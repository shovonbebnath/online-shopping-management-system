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hVzc8Do80ofUL2d8Y4WDL57mSI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138E8FE-A1B6-4B40-A79C-6BE1C933E8AF}">
  <a:tblStyle styleId="{8138E8FE-A1B6-4B40-A79C-6BE1C933E8AF}" styleName="Table_0">
    <a:wholeTbl>
      <a:tcTxStyle b="off" i="off">
        <a:font>
          <a:latin typeface="Tw Cen MT"/>
          <a:ea typeface="Tw Cen MT"/>
          <a:cs typeface="Tw Cen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F0FC"/>
          </a:solidFill>
        </a:fill>
      </a:tcStyle>
    </a:wholeTbl>
    <a:band1H>
      <a:tcTxStyle/>
      <a:tcStyle>
        <a:fill>
          <a:solidFill>
            <a:srgbClr val="CCE0F8"/>
          </a:solidFill>
        </a:fill>
      </a:tcStyle>
    </a:band1H>
    <a:band2H>
      <a:tcTxStyle/>
    </a:band2H>
    <a:band1V>
      <a:tcTxStyle/>
      <a:tcStyle>
        <a:fill>
          <a:solidFill>
            <a:srgbClr val="CCE0F8"/>
          </a:solidFill>
        </a:fill>
      </a:tcStyle>
    </a:band1V>
    <a:band2V>
      <a:tcTxStyle/>
    </a:band2V>
    <a:lastCol>
      <a:tcTxStyle b="on" i="off">
        <a:font>
          <a:latin typeface="Tw Cen MT"/>
          <a:ea typeface="Tw Cen MT"/>
          <a:cs typeface="Tw Cen MT"/>
        </a:font>
        <a:schemeClr val="lt1"/>
      </a:tcTxStyle>
      <a:tcStyle>
        <a:fill>
          <a:solidFill>
            <a:schemeClr val="accent1"/>
          </a:solidFill>
        </a:fill>
      </a:tcStyle>
    </a:lastCol>
    <a:firstCol>
      <a:tcTxStyle b="on" i="off">
        <a:font>
          <a:latin typeface="Tw Cen MT"/>
          <a:ea typeface="Tw Cen MT"/>
          <a:cs typeface="Tw Cen MT"/>
        </a:font>
        <a:schemeClr val="lt1"/>
      </a:tcTxStyle>
      <a:tcStyle>
        <a:fill>
          <a:solidFill>
            <a:schemeClr val="accent1"/>
          </a:solidFill>
        </a:fill>
      </a:tcStyle>
    </a:firstCol>
    <a:lastRow>
      <a:tcTxStyle b="on" i="off">
        <a:font>
          <a:latin typeface="Tw Cen MT"/>
          <a:ea typeface="Tw Cen MT"/>
          <a:cs typeface="Tw Cen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w Cen MT"/>
          <a:ea typeface="Tw Cen MT"/>
          <a:cs typeface="Tw Cen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pic>
        <p:nvPicPr>
          <p:cNvPr descr="Droplets-HD-Content-R1d.png" id="13" name="Google Shape;13;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 name="Google Shape;14;p15"/>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5"/>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5"/>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pic>
        <p:nvPicPr>
          <p:cNvPr descr="Droplets-HD-Content-R1d.png" id="18" name="Google Shape;18;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9" name="Google Shape;19;p16"/>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6"/>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1" name="Google Shape;21;p16"/>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6"/>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6"/>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pic>
        <p:nvPicPr>
          <p:cNvPr descr="Droplets-HD-Title-R1d.png" id="25" name="Google Shape;25;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6" name="Google Shape;26;p17"/>
          <p:cNvSpPr txBox="1"/>
          <p:nvPr>
            <p:ph type="ctrTitle"/>
          </p:nvPr>
        </p:nvSpPr>
        <p:spPr>
          <a:xfrm>
            <a:off x="1751012" y="1300785"/>
            <a:ext cx="8689976" cy="2509213"/>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800"/>
              <a:buFont typeface="Twentieth Centur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7"/>
          <p:cNvSpPr txBox="1"/>
          <p:nvPr>
            <p:ph idx="1" type="subTitle"/>
          </p:nvPr>
        </p:nvSpPr>
        <p:spPr>
          <a:xfrm>
            <a:off x="1751012" y="3886200"/>
            <a:ext cx="8689976" cy="1371599"/>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SzPts val="2200"/>
              <a:buNone/>
              <a:defRPr sz="2200">
                <a:solidFill>
                  <a:srgbClr val="7F7F7F"/>
                </a:solidFill>
              </a:defRPr>
            </a:lvl1pPr>
            <a:lvl2pPr lvl="1" algn="ctr">
              <a:lnSpc>
                <a:spcPct val="120000"/>
              </a:lnSpc>
              <a:spcBef>
                <a:spcPts val="500"/>
              </a:spcBef>
              <a:spcAft>
                <a:spcPts val="0"/>
              </a:spcAft>
              <a:buSzPts val="2000"/>
              <a:buNone/>
              <a:defRPr sz="20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28" name="Google Shape;28;p17"/>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7"/>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7"/>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pic>
        <p:nvPicPr>
          <p:cNvPr descr="Droplets-HD-Content-R1d.png" id="32" name="Google Shape;32;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3" name="Google Shape;33;p18"/>
          <p:cNvSpPr txBox="1"/>
          <p:nvPr>
            <p:ph type="title"/>
          </p:nvPr>
        </p:nvSpPr>
        <p:spPr>
          <a:xfrm>
            <a:off x="913774" y="828563"/>
            <a:ext cx="10351752" cy="2736819"/>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8"/>
          <p:cNvSpPr txBox="1"/>
          <p:nvPr>
            <p:ph idx="1" type="body"/>
          </p:nvPr>
        </p:nvSpPr>
        <p:spPr>
          <a:xfrm>
            <a:off x="913774" y="3657457"/>
            <a:ext cx="10351752" cy="1368183"/>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2000"/>
              <a:buNone/>
              <a:defRPr sz="2000">
                <a:solidFill>
                  <a:srgbClr val="7F7F7F"/>
                </a:solidFill>
              </a:defRPr>
            </a:lvl1pPr>
            <a:lvl2pPr indent="-228600" lvl="1" marL="914400" algn="l">
              <a:lnSpc>
                <a:spcPct val="120000"/>
              </a:lnSpc>
              <a:spcBef>
                <a:spcPts val="500"/>
              </a:spcBef>
              <a:spcAft>
                <a:spcPts val="0"/>
              </a:spcAft>
              <a:buSzPts val="2000"/>
              <a:buNone/>
              <a:defRPr sz="20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35" name="Google Shape;35;p18"/>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8"/>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8"/>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pic>
        <p:nvPicPr>
          <p:cNvPr descr="Droplets-HD-Content-R1d.png" id="39" name="Google Shape;39;p1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0" name="Google Shape;40;p19"/>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9"/>
          <p:cNvSpPr txBox="1"/>
          <p:nvPr>
            <p:ph idx="1" type="body"/>
          </p:nvPr>
        </p:nvSpPr>
        <p:spPr>
          <a:xfrm>
            <a:off x="913774" y="2367092"/>
            <a:ext cx="5106026"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2" name="Google Shape;42;p19"/>
          <p:cNvSpPr txBox="1"/>
          <p:nvPr>
            <p:ph idx="2" type="body"/>
          </p:nvPr>
        </p:nvSpPr>
        <p:spPr>
          <a:xfrm>
            <a:off x="6172200" y="2367092"/>
            <a:ext cx="5105400"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3" name="Google Shape;43;p19"/>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9"/>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9"/>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pic>
        <p:nvPicPr>
          <p:cNvPr descr="Droplets-HD-Content-R1d.png" id="47" name="Google Shape;47;p2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8" name="Google Shape;48;p20"/>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20"/>
          <p:cNvSpPr txBox="1"/>
          <p:nvPr>
            <p:ph idx="1" type="body"/>
          </p:nvPr>
        </p:nvSpPr>
        <p:spPr>
          <a:xfrm>
            <a:off x="1146328" y="2371018"/>
            <a:ext cx="4873474" cy="679994"/>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1000"/>
              </a:spcBef>
              <a:spcAft>
                <a:spcPts val="0"/>
              </a:spcAft>
              <a:buSzPts val="2600"/>
              <a:buNone/>
              <a:defRPr b="0" sz="26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0" name="Google Shape;50;p20"/>
          <p:cNvSpPr txBox="1"/>
          <p:nvPr>
            <p:ph idx="2" type="body"/>
          </p:nvPr>
        </p:nvSpPr>
        <p:spPr>
          <a:xfrm>
            <a:off x="913774" y="3051012"/>
            <a:ext cx="5106027" cy="27401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1" name="Google Shape;51;p20"/>
          <p:cNvSpPr txBox="1"/>
          <p:nvPr>
            <p:ph idx="3" type="body"/>
          </p:nvPr>
        </p:nvSpPr>
        <p:spPr>
          <a:xfrm>
            <a:off x="6396423" y="2371018"/>
            <a:ext cx="4881804" cy="679994"/>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1000"/>
              </a:spcBef>
              <a:spcAft>
                <a:spcPts val="0"/>
              </a:spcAft>
              <a:buSzPts val="2600"/>
              <a:buNone/>
              <a:defRPr b="0" sz="26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2" name="Google Shape;52;p20"/>
          <p:cNvSpPr txBox="1"/>
          <p:nvPr>
            <p:ph idx="4" type="body"/>
          </p:nvPr>
        </p:nvSpPr>
        <p:spPr>
          <a:xfrm>
            <a:off x="6172200" y="3051012"/>
            <a:ext cx="5105401" cy="27401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3" name="Google Shape;53;p20"/>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0"/>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pic>
        <p:nvPicPr>
          <p:cNvPr descr="Droplets-HD-Content-R1d.png" id="57" name="Google Shape;57;p2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8" name="Google Shape;58;p21"/>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21"/>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1"/>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pic>
        <p:nvPicPr>
          <p:cNvPr descr="Droplets-HD-Content-R1d.png" id="63" name="Google Shape;63;p2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4" name="Google Shape;64;p22"/>
          <p:cNvSpPr txBox="1"/>
          <p:nvPr>
            <p:ph type="title"/>
          </p:nvPr>
        </p:nvSpPr>
        <p:spPr>
          <a:xfrm>
            <a:off x="913775" y="609600"/>
            <a:ext cx="3935688" cy="202325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22"/>
          <p:cNvSpPr txBox="1"/>
          <p:nvPr>
            <p:ph idx="1" type="body"/>
          </p:nvPr>
        </p:nvSpPr>
        <p:spPr>
          <a:xfrm>
            <a:off x="5078062" y="609600"/>
            <a:ext cx="6200163" cy="518159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6" name="Google Shape;66;p22"/>
          <p:cNvSpPr txBox="1"/>
          <p:nvPr>
            <p:ph idx="2" type="body"/>
          </p:nvPr>
        </p:nvSpPr>
        <p:spPr>
          <a:xfrm>
            <a:off x="913774" y="2632852"/>
            <a:ext cx="3935689" cy="315834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67" name="Google Shape;67;p22"/>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2"/>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2"/>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pic>
        <p:nvPicPr>
          <p:cNvPr descr="Droplets-HD-Content-R1d.png" id="71" name="Google Shape;71;p2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72" name="Google Shape;72;p23"/>
          <p:cNvSpPr txBox="1"/>
          <p:nvPr>
            <p:ph type="title"/>
          </p:nvPr>
        </p:nvSpPr>
        <p:spPr>
          <a:xfrm>
            <a:off x="913774" y="609600"/>
            <a:ext cx="5934969" cy="2023254"/>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3"/>
          <p:cNvSpPr/>
          <p:nvPr>
            <p:ph idx="2" type="pic"/>
          </p:nvPr>
        </p:nvSpPr>
        <p:spPr>
          <a:xfrm>
            <a:off x="7424803" y="609601"/>
            <a:ext cx="3255358" cy="5181600"/>
          </a:xfrm>
          <a:prstGeom prst="roundRect">
            <a:avLst>
              <a:gd fmla="val 4943" name="adj"/>
            </a:avLst>
          </a:prstGeom>
          <a:noFill/>
          <a:ln cap="sq" cmpd="sng" w="82550">
            <a:solidFill>
              <a:srgbClr val="EAEAEA"/>
            </a:solidFill>
            <a:prstDash val="solid"/>
            <a:miter lim="800000"/>
            <a:headEnd len="sm" w="sm" type="none"/>
            <a:tailEnd len="sm" w="sm" type="none"/>
          </a:ln>
        </p:spPr>
      </p:sp>
      <p:sp>
        <p:nvSpPr>
          <p:cNvPr id="74" name="Google Shape;74;p23"/>
          <p:cNvSpPr txBox="1"/>
          <p:nvPr>
            <p:ph idx="1" type="body"/>
          </p:nvPr>
        </p:nvSpPr>
        <p:spPr>
          <a:xfrm>
            <a:off x="913794" y="2632852"/>
            <a:ext cx="5934949" cy="3158347"/>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5" name="Google Shape;75;p23"/>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3"/>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8" name="Shape 78"/>
        <p:cNvGrpSpPr/>
        <p:nvPr/>
      </p:nvGrpSpPr>
      <p:grpSpPr>
        <a:xfrm>
          <a:off x="0" y="0"/>
          <a:ext cx="0" cy="0"/>
          <a:chOff x="0" y="0"/>
          <a:chExt cx="0" cy="0"/>
        </a:xfrm>
      </p:grpSpPr>
      <p:pic>
        <p:nvPicPr>
          <p:cNvPr descr="Droplets-HD-Content-R1d.png" id="79" name="Google Shape;79;p2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0" name="Google Shape;80;p24"/>
          <p:cNvSpPr txBox="1"/>
          <p:nvPr>
            <p:ph type="title"/>
          </p:nvPr>
        </p:nvSpPr>
        <p:spPr>
          <a:xfrm>
            <a:off x="913794" y="4289374"/>
            <a:ext cx="10364432" cy="81161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4"/>
          <p:cNvSpPr/>
          <p:nvPr>
            <p:ph idx="2" type="pic"/>
          </p:nvPr>
        </p:nvSpPr>
        <p:spPr>
          <a:xfrm>
            <a:off x="1184744" y="698261"/>
            <a:ext cx="9822532" cy="3214136"/>
          </a:xfrm>
          <a:prstGeom prst="roundRect">
            <a:avLst>
              <a:gd fmla="val 4944" name="adj"/>
            </a:avLst>
          </a:prstGeom>
          <a:noFill/>
          <a:ln cap="sq" cmpd="sng" w="82550">
            <a:solidFill>
              <a:srgbClr val="EAEAEA"/>
            </a:solidFill>
            <a:prstDash val="solid"/>
            <a:miter lim="800000"/>
            <a:headEnd len="sm" w="sm" type="none"/>
            <a:tailEnd len="sm" w="sm" type="none"/>
          </a:ln>
        </p:spPr>
      </p:sp>
      <p:sp>
        <p:nvSpPr>
          <p:cNvPr id="82" name="Google Shape;82;p24"/>
          <p:cNvSpPr txBox="1"/>
          <p:nvPr>
            <p:ph idx="1" type="body"/>
          </p:nvPr>
        </p:nvSpPr>
        <p:spPr>
          <a:xfrm>
            <a:off x="913774" y="5108728"/>
            <a:ext cx="10364452" cy="682472"/>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83" name="Google Shape;83;p24"/>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4"/>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4"/>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6" name="Shape 86"/>
        <p:cNvGrpSpPr/>
        <p:nvPr/>
      </p:nvGrpSpPr>
      <p:grpSpPr>
        <a:xfrm>
          <a:off x="0" y="0"/>
          <a:ext cx="0" cy="0"/>
          <a:chOff x="0" y="0"/>
          <a:chExt cx="0" cy="0"/>
        </a:xfrm>
      </p:grpSpPr>
      <p:pic>
        <p:nvPicPr>
          <p:cNvPr descr="Droplets-HD-Content-R1d.png" id="87" name="Google Shape;87;p2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8" name="Google Shape;88;p25"/>
          <p:cNvSpPr txBox="1"/>
          <p:nvPr>
            <p:ph type="title"/>
          </p:nvPr>
        </p:nvSpPr>
        <p:spPr>
          <a:xfrm>
            <a:off x="913774" y="609599"/>
            <a:ext cx="10364452" cy="342724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25"/>
          <p:cNvSpPr txBox="1"/>
          <p:nvPr>
            <p:ph idx="1" type="body"/>
          </p:nvPr>
        </p:nvSpPr>
        <p:spPr>
          <a:xfrm>
            <a:off x="913775" y="4204821"/>
            <a:ext cx="10364452" cy="1586380"/>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90" name="Google Shape;90;p25"/>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5"/>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5"/>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3" name="Shape 93"/>
        <p:cNvGrpSpPr/>
        <p:nvPr/>
      </p:nvGrpSpPr>
      <p:grpSpPr>
        <a:xfrm>
          <a:off x="0" y="0"/>
          <a:ext cx="0" cy="0"/>
          <a:chOff x="0" y="0"/>
          <a:chExt cx="0" cy="0"/>
        </a:xfrm>
      </p:grpSpPr>
      <p:pic>
        <p:nvPicPr>
          <p:cNvPr descr="Droplets-HD-Content-R1d.png" id="94" name="Google Shape;94;p2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5" name="Google Shape;95;p26"/>
          <p:cNvSpPr txBox="1"/>
          <p:nvPr>
            <p:ph type="title"/>
          </p:nvPr>
        </p:nvSpPr>
        <p:spPr>
          <a:xfrm>
            <a:off x="1446212" y="609600"/>
            <a:ext cx="9302752" cy="299290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6"/>
          <p:cNvSpPr txBox="1"/>
          <p:nvPr>
            <p:ph idx="1" type="body"/>
          </p:nvPr>
        </p:nvSpPr>
        <p:spPr>
          <a:xfrm>
            <a:off x="1720644" y="3610032"/>
            <a:ext cx="8752299" cy="59478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97" name="Google Shape;97;p26"/>
          <p:cNvSpPr txBox="1"/>
          <p:nvPr>
            <p:ph idx="2" type="body"/>
          </p:nvPr>
        </p:nvSpPr>
        <p:spPr>
          <a:xfrm>
            <a:off x="913774" y="4372796"/>
            <a:ext cx="10364452" cy="1421053"/>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98" name="Google Shape;98;p26"/>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6"/>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6"/>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1" name="Google Shape;101;p26"/>
          <p:cNvSpPr txBox="1"/>
          <p:nvPr/>
        </p:nvSpPr>
        <p:spPr>
          <a:xfrm>
            <a:off x="1001488" y="75416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Twentieth Century"/>
              <a:buNone/>
            </a:pPr>
            <a:r>
              <a:rPr b="0" lang="en-US" sz="8000" cap="none">
                <a:solidFill>
                  <a:schemeClr val="dk1"/>
                </a:solidFill>
                <a:latin typeface="Twentieth Century"/>
                <a:ea typeface="Twentieth Century"/>
                <a:cs typeface="Twentieth Century"/>
                <a:sym typeface="Twentieth Century"/>
              </a:rPr>
              <a:t>“</a:t>
            </a:r>
            <a:endParaRPr/>
          </a:p>
        </p:txBody>
      </p:sp>
      <p:sp>
        <p:nvSpPr>
          <p:cNvPr id="102" name="Google Shape;102;p26"/>
          <p:cNvSpPr txBox="1"/>
          <p:nvPr/>
        </p:nvSpPr>
        <p:spPr>
          <a:xfrm>
            <a:off x="10557558" y="2993578"/>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Twentieth Century"/>
              <a:buNone/>
            </a:pPr>
            <a:r>
              <a:rPr b="0" lang="en-US" sz="8000" cap="none">
                <a:solidFill>
                  <a:schemeClr val="dk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3" name="Shape 103"/>
        <p:cNvGrpSpPr/>
        <p:nvPr/>
      </p:nvGrpSpPr>
      <p:grpSpPr>
        <a:xfrm>
          <a:off x="0" y="0"/>
          <a:ext cx="0" cy="0"/>
          <a:chOff x="0" y="0"/>
          <a:chExt cx="0" cy="0"/>
        </a:xfrm>
      </p:grpSpPr>
      <p:pic>
        <p:nvPicPr>
          <p:cNvPr descr="Droplets-HD-Content-R1d.png" id="104" name="Google Shape;104;p2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5" name="Google Shape;105;p27"/>
          <p:cNvSpPr txBox="1"/>
          <p:nvPr>
            <p:ph type="title"/>
          </p:nvPr>
        </p:nvSpPr>
        <p:spPr>
          <a:xfrm>
            <a:off x="913775" y="2138721"/>
            <a:ext cx="10364452" cy="2511835"/>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27"/>
          <p:cNvSpPr txBox="1"/>
          <p:nvPr>
            <p:ph idx="1" type="body"/>
          </p:nvPr>
        </p:nvSpPr>
        <p:spPr>
          <a:xfrm>
            <a:off x="913775" y="4662335"/>
            <a:ext cx="10364452" cy="114064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107" name="Google Shape;107;p27"/>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7"/>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7"/>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10" name="Shape 110"/>
        <p:cNvGrpSpPr/>
        <p:nvPr/>
      </p:nvGrpSpPr>
      <p:grpSpPr>
        <a:xfrm>
          <a:off x="0" y="0"/>
          <a:ext cx="0" cy="0"/>
          <a:chOff x="0" y="0"/>
          <a:chExt cx="0" cy="0"/>
        </a:xfrm>
      </p:grpSpPr>
      <p:pic>
        <p:nvPicPr>
          <p:cNvPr descr="Droplets-HD-Content-R1d.png" id="111" name="Google Shape;111;p2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2" name="Google Shape;112;p28"/>
          <p:cNvSpPr txBox="1"/>
          <p:nvPr>
            <p:ph type="title"/>
          </p:nvPr>
        </p:nvSpPr>
        <p:spPr>
          <a:xfrm>
            <a:off x="913774" y="609600"/>
            <a:ext cx="10364452" cy="160509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28"/>
          <p:cNvSpPr txBox="1"/>
          <p:nvPr>
            <p:ph idx="1" type="body"/>
          </p:nvPr>
        </p:nvSpPr>
        <p:spPr>
          <a:xfrm>
            <a:off x="913774" y="2367093"/>
            <a:ext cx="3298976"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14" name="Google Shape;114;p28"/>
          <p:cNvSpPr txBox="1"/>
          <p:nvPr>
            <p:ph idx="2" type="body"/>
          </p:nvPr>
        </p:nvSpPr>
        <p:spPr>
          <a:xfrm>
            <a:off x="913774" y="2943355"/>
            <a:ext cx="3298976"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15" name="Google Shape;115;p28"/>
          <p:cNvSpPr txBox="1"/>
          <p:nvPr>
            <p:ph idx="3" type="body"/>
          </p:nvPr>
        </p:nvSpPr>
        <p:spPr>
          <a:xfrm>
            <a:off x="4452389" y="2367093"/>
            <a:ext cx="3291521"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16" name="Google Shape;116;p28"/>
          <p:cNvSpPr txBox="1"/>
          <p:nvPr>
            <p:ph idx="4" type="body"/>
          </p:nvPr>
        </p:nvSpPr>
        <p:spPr>
          <a:xfrm>
            <a:off x="4441348" y="2943355"/>
            <a:ext cx="3303351"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17" name="Google Shape;117;p28"/>
          <p:cNvSpPr txBox="1"/>
          <p:nvPr>
            <p:ph idx="5" type="body"/>
          </p:nvPr>
        </p:nvSpPr>
        <p:spPr>
          <a:xfrm>
            <a:off x="7973298" y="2367093"/>
            <a:ext cx="3304928"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18" name="Google Shape;118;p28"/>
          <p:cNvSpPr txBox="1"/>
          <p:nvPr>
            <p:ph idx="6" type="body"/>
          </p:nvPr>
        </p:nvSpPr>
        <p:spPr>
          <a:xfrm>
            <a:off x="7973298" y="2943355"/>
            <a:ext cx="3304928"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19" name="Google Shape;119;p28"/>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8"/>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8"/>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22" name="Shape 122"/>
        <p:cNvGrpSpPr/>
        <p:nvPr/>
      </p:nvGrpSpPr>
      <p:grpSpPr>
        <a:xfrm>
          <a:off x="0" y="0"/>
          <a:ext cx="0" cy="0"/>
          <a:chOff x="0" y="0"/>
          <a:chExt cx="0" cy="0"/>
        </a:xfrm>
      </p:grpSpPr>
      <p:pic>
        <p:nvPicPr>
          <p:cNvPr descr="Droplets-HD-Content-R1d.png" id="123" name="Google Shape;123;p2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4" name="Google Shape;124;p29"/>
          <p:cNvSpPr txBox="1"/>
          <p:nvPr>
            <p:ph type="title"/>
          </p:nvPr>
        </p:nvSpPr>
        <p:spPr>
          <a:xfrm>
            <a:off x="913774" y="610772"/>
            <a:ext cx="10364452" cy="160392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29"/>
          <p:cNvSpPr txBox="1"/>
          <p:nvPr>
            <p:ph idx="1" type="body"/>
          </p:nvPr>
        </p:nvSpPr>
        <p:spPr>
          <a:xfrm>
            <a:off x="913774" y="4204820"/>
            <a:ext cx="3296409"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26" name="Google Shape;126;p29"/>
          <p:cNvSpPr/>
          <p:nvPr>
            <p:ph idx="2" type="pic"/>
          </p:nvPr>
        </p:nvSpPr>
        <p:spPr>
          <a:xfrm>
            <a:off x="913774" y="2367093"/>
            <a:ext cx="3296409" cy="1524000"/>
          </a:xfrm>
          <a:prstGeom prst="roundRect">
            <a:avLst>
              <a:gd fmla="val 9363" name="adj"/>
            </a:avLst>
          </a:prstGeom>
          <a:noFill/>
          <a:ln cap="sq" cmpd="sng" w="82550">
            <a:solidFill>
              <a:srgbClr val="EAEAEA"/>
            </a:solidFill>
            <a:prstDash val="solid"/>
            <a:miter lim="800000"/>
            <a:headEnd len="sm" w="sm" type="none"/>
            <a:tailEnd len="sm" w="sm" type="none"/>
          </a:ln>
        </p:spPr>
      </p:sp>
      <p:sp>
        <p:nvSpPr>
          <p:cNvPr id="127" name="Google Shape;127;p29"/>
          <p:cNvSpPr txBox="1"/>
          <p:nvPr>
            <p:ph idx="3" type="body"/>
          </p:nvPr>
        </p:nvSpPr>
        <p:spPr>
          <a:xfrm>
            <a:off x="913774" y="4781082"/>
            <a:ext cx="3296409" cy="101011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28" name="Google Shape;128;p29"/>
          <p:cNvSpPr txBox="1"/>
          <p:nvPr>
            <p:ph idx="4" type="body"/>
          </p:nvPr>
        </p:nvSpPr>
        <p:spPr>
          <a:xfrm>
            <a:off x="4442759" y="4204820"/>
            <a:ext cx="3301828"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29" name="Google Shape;129;p29"/>
          <p:cNvSpPr/>
          <p:nvPr>
            <p:ph idx="5" type="pic"/>
          </p:nvPr>
        </p:nvSpPr>
        <p:spPr>
          <a:xfrm>
            <a:off x="4441348" y="2367093"/>
            <a:ext cx="3303352" cy="1524000"/>
          </a:xfrm>
          <a:prstGeom prst="roundRect">
            <a:avLst>
              <a:gd fmla="val 8841" name="adj"/>
            </a:avLst>
          </a:prstGeom>
          <a:noFill/>
          <a:ln cap="sq" cmpd="sng" w="82550">
            <a:solidFill>
              <a:srgbClr val="EAEAEA"/>
            </a:solidFill>
            <a:prstDash val="solid"/>
            <a:miter lim="800000"/>
            <a:headEnd len="sm" w="sm" type="none"/>
            <a:tailEnd len="sm" w="sm" type="none"/>
          </a:ln>
        </p:spPr>
      </p:sp>
      <p:sp>
        <p:nvSpPr>
          <p:cNvPr id="130" name="Google Shape;130;p29"/>
          <p:cNvSpPr txBox="1"/>
          <p:nvPr>
            <p:ph idx="6" type="body"/>
          </p:nvPr>
        </p:nvSpPr>
        <p:spPr>
          <a:xfrm>
            <a:off x="4441348" y="4781080"/>
            <a:ext cx="3303352" cy="1010119"/>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31" name="Google Shape;131;p29"/>
          <p:cNvSpPr txBox="1"/>
          <p:nvPr>
            <p:ph idx="7" type="body"/>
          </p:nvPr>
        </p:nvSpPr>
        <p:spPr>
          <a:xfrm>
            <a:off x="7973298" y="4204820"/>
            <a:ext cx="3300681"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32" name="Google Shape;132;p29"/>
          <p:cNvSpPr/>
          <p:nvPr>
            <p:ph idx="8" type="pic"/>
          </p:nvPr>
        </p:nvSpPr>
        <p:spPr>
          <a:xfrm>
            <a:off x="7973298" y="2367093"/>
            <a:ext cx="3304928" cy="1524000"/>
          </a:xfrm>
          <a:prstGeom prst="roundRect">
            <a:avLst>
              <a:gd fmla="val 8841" name="adj"/>
            </a:avLst>
          </a:prstGeom>
          <a:noFill/>
          <a:ln cap="sq" cmpd="sng" w="82550">
            <a:solidFill>
              <a:srgbClr val="EAEAEA"/>
            </a:solidFill>
            <a:prstDash val="solid"/>
            <a:miter lim="800000"/>
            <a:headEnd len="sm" w="sm" type="none"/>
            <a:tailEnd len="sm" w="sm" type="none"/>
          </a:ln>
        </p:spPr>
      </p:sp>
      <p:sp>
        <p:nvSpPr>
          <p:cNvPr id="133" name="Google Shape;133;p29"/>
          <p:cNvSpPr txBox="1"/>
          <p:nvPr>
            <p:ph idx="9" type="body"/>
          </p:nvPr>
        </p:nvSpPr>
        <p:spPr>
          <a:xfrm>
            <a:off x="7973173" y="4781078"/>
            <a:ext cx="3305053" cy="1010121"/>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34" name="Google Shape;134;p29"/>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9"/>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9"/>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7" name="Shape 137"/>
        <p:cNvGrpSpPr/>
        <p:nvPr/>
      </p:nvGrpSpPr>
      <p:grpSpPr>
        <a:xfrm>
          <a:off x="0" y="0"/>
          <a:ext cx="0" cy="0"/>
          <a:chOff x="0" y="0"/>
          <a:chExt cx="0" cy="0"/>
        </a:xfrm>
      </p:grpSpPr>
      <p:pic>
        <p:nvPicPr>
          <p:cNvPr descr="Droplets-HD-Content-R1d.png" id="138" name="Google Shape;138;p3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9" name="Google Shape;139;p30"/>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30"/>
          <p:cNvSpPr txBox="1"/>
          <p:nvPr>
            <p:ph idx="1" type="body"/>
          </p:nvPr>
        </p:nvSpPr>
        <p:spPr>
          <a:xfrm rot="5400000">
            <a:off x="4383948" y="-1103080"/>
            <a:ext cx="3424107" cy="1036445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141" name="Google Shape;141;p30"/>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0"/>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0"/>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4" name="Shape 144"/>
        <p:cNvGrpSpPr/>
        <p:nvPr/>
      </p:nvGrpSpPr>
      <p:grpSpPr>
        <a:xfrm>
          <a:off x="0" y="0"/>
          <a:ext cx="0" cy="0"/>
          <a:chOff x="0" y="0"/>
          <a:chExt cx="0" cy="0"/>
        </a:xfrm>
      </p:grpSpPr>
      <p:pic>
        <p:nvPicPr>
          <p:cNvPr descr="Droplets-HD-Content-R1d.png" id="145" name="Google Shape;145;p3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6" name="Google Shape;146;p31"/>
          <p:cNvSpPr txBox="1"/>
          <p:nvPr>
            <p:ph type="title"/>
          </p:nvPr>
        </p:nvSpPr>
        <p:spPr>
          <a:xfrm rot="5400000">
            <a:off x="7410763" y="1923738"/>
            <a:ext cx="5181599" cy="25533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31"/>
          <p:cNvSpPr txBox="1"/>
          <p:nvPr>
            <p:ph idx="1" type="body"/>
          </p:nvPr>
        </p:nvSpPr>
        <p:spPr>
          <a:xfrm rot="5400000">
            <a:off x="2152338" y="-628962"/>
            <a:ext cx="5181599" cy="765872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148" name="Google Shape;148;p31"/>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1"/>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1"/>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B7B7B7"/>
            </a:gs>
          </a:gsLst>
          <a:lin ang="5400000" scaled="0"/>
        </a:gradFill>
      </p:bgPr>
    </p:bg>
    <p:spTree>
      <p:nvGrpSpPr>
        <p:cNvPr id="5" name="Shape 5"/>
        <p:cNvGrpSpPr/>
        <p:nvPr/>
      </p:nvGrpSpPr>
      <p:grpSpPr>
        <a:xfrm>
          <a:off x="0" y="0"/>
          <a:ext cx="0" cy="0"/>
          <a:chOff x="0" y="0"/>
          <a:chExt cx="0" cy="0"/>
        </a:xfrm>
      </p:grpSpPr>
      <p:pic>
        <p:nvPicPr>
          <p:cNvPr descr="\\DROBO-FS\QuickDrops\JB\PPTX NG\Droplets\LightingOverlay.png" id="6" name="Google Shape;6;p14"/>
          <p:cNvPicPr preferRelativeResize="0"/>
          <p:nvPr/>
        </p:nvPicPr>
        <p:blipFill rotWithShape="1">
          <a:blip r:embed="rId1">
            <a:alphaModFix/>
          </a:blip>
          <a:srcRect b="0" l="0" r="0" t="0"/>
          <a:stretch/>
        </p:blipFill>
        <p:spPr>
          <a:xfrm>
            <a:off x="0" y="-1"/>
            <a:ext cx="12192003" cy="6858001"/>
          </a:xfrm>
          <a:prstGeom prst="rect">
            <a:avLst/>
          </a:prstGeom>
          <a:noFill/>
          <a:ln>
            <a:noFill/>
          </a:ln>
        </p:spPr>
      </p:pic>
      <p:sp>
        <p:nvSpPr>
          <p:cNvPr id="7" name="Google Shape;7;p14"/>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3600"/>
              <a:buFont typeface="Twentieth Century"/>
              <a:buNone/>
              <a:defRPr b="0" i="0" sz="3600" u="none" cap="none" strike="noStrike">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4"/>
          <p:cNvSpPr txBox="1"/>
          <p:nvPr>
            <p:ph idx="1" type="body"/>
          </p:nvPr>
        </p:nvSpPr>
        <p:spPr>
          <a:xfrm>
            <a:off x="913775" y="2367093"/>
            <a:ext cx="10364452" cy="3424107"/>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dk1"/>
              </a:buClr>
              <a:buSzPts val="2000"/>
              <a:buFont typeface="Arial"/>
              <a:buChar char="•"/>
              <a:defRPr b="0" i="0" sz="20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120000"/>
              </a:lnSpc>
              <a:spcBef>
                <a:spcPts val="500"/>
              </a:spcBef>
              <a:spcAft>
                <a:spcPts val="0"/>
              </a:spcAft>
              <a:buClr>
                <a:schemeClr val="dk1"/>
              </a:buClr>
              <a:buSzPts val="1800"/>
              <a:buFont typeface="Arial"/>
              <a:buChar char="•"/>
              <a:defRPr b="0" i="0" sz="1800" u="none" cap="none" strike="noStrike">
                <a:solidFill>
                  <a:schemeClr val="dk1"/>
                </a:solidFill>
                <a:latin typeface="Twentieth Century"/>
                <a:ea typeface="Twentieth Century"/>
                <a:cs typeface="Twentieth Century"/>
                <a:sym typeface="Twentieth Century"/>
              </a:defRPr>
            </a:lvl2pPr>
            <a:lvl3pPr indent="-330200" lvl="2" marL="1371600" marR="0" rtl="0" algn="l">
              <a:lnSpc>
                <a:spcPct val="120000"/>
              </a:lnSpc>
              <a:spcBef>
                <a:spcPts val="500"/>
              </a:spcBef>
              <a:spcAft>
                <a:spcPts val="0"/>
              </a:spcAft>
              <a:buClr>
                <a:schemeClr val="dk1"/>
              </a:buClr>
              <a:buSzPts val="1600"/>
              <a:buFont typeface="Arial"/>
              <a:buChar char="•"/>
              <a:defRPr b="0" i="0" sz="16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9" name="Google Shape;9;p14"/>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chemeClr val="dk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 name="Google Shape;10;p14"/>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dk1"/>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1" name="Google Shape;11;p14"/>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1pPr>
            <a:lvl2pPr indent="0" lvl="1"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2pPr>
            <a:lvl3pPr indent="0" lvl="2"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3pPr>
            <a:lvl4pPr indent="0" lvl="3"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4pPr>
            <a:lvl5pPr indent="0" lvl="4"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5pPr>
            <a:lvl6pPr indent="0" lvl="5"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6pPr>
            <a:lvl7pPr indent="0" lvl="6"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7pPr>
            <a:lvl8pPr indent="0" lvl="7"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8pPr>
            <a:lvl9pPr indent="0" lvl="8" marL="0" marR="0" rtl="0" algn="r">
              <a:spcBef>
                <a:spcPts val="0"/>
              </a:spcBef>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54" name="Shape 154"/>
        <p:cNvGrpSpPr/>
        <p:nvPr/>
      </p:nvGrpSpPr>
      <p:grpSpPr>
        <a:xfrm>
          <a:off x="0" y="0"/>
          <a:ext cx="0" cy="0"/>
          <a:chOff x="0" y="0"/>
          <a:chExt cx="0" cy="0"/>
        </a:xfrm>
      </p:grpSpPr>
      <p:pic>
        <p:nvPicPr>
          <p:cNvPr id="155" name="Google Shape;155;p1"/>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
          <p:cNvSpPr txBox="1"/>
          <p:nvPr>
            <p:ph type="title"/>
          </p:nvPr>
        </p:nvSpPr>
        <p:spPr>
          <a:xfrm>
            <a:off x="1453926" y="196279"/>
            <a:ext cx="9284147" cy="145076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7030A0"/>
              </a:buClr>
              <a:buSzPts val="4000"/>
              <a:buFont typeface="Twentieth Century"/>
              <a:buNone/>
            </a:pPr>
            <a:r>
              <a:rPr b="1" lang="en-US" sz="4000" u="sng">
                <a:solidFill>
                  <a:srgbClr val="7030A0"/>
                </a:solidFill>
              </a:rPr>
              <a:t>ONLINE SHOPPING</a:t>
            </a:r>
            <a:endParaRPr sz="4000">
              <a:solidFill>
                <a:srgbClr val="7030A0"/>
              </a:solidFill>
            </a:endParaRPr>
          </a:p>
        </p:txBody>
      </p:sp>
      <p:sp>
        <p:nvSpPr>
          <p:cNvPr id="161" name="Google Shape;161;p2"/>
          <p:cNvSpPr txBox="1"/>
          <p:nvPr/>
        </p:nvSpPr>
        <p:spPr>
          <a:xfrm>
            <a:off x="2462513" y="1647044"/>
            <a:ext cx="7266974"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sng" cap="none" strike="noStrike">
                <a:solidFill>
                  <a:schemeClr val="dk1"/>
                </a:solidFill>
                <a:latin typeface="Twentieth Century"/>
                <a:ea typeface="Twentieth Century"/>
                <a:cs typeface="Twentieth Century"/>
                <a:sym typeface="Twentieth Century"/>
              </a:rPr>
              <a:t>Group Name: Jammat-Shibir</a:t>
            </a:r>
            <a:endParaRPr b="1" i="0" sz="3200" u="sng" cap="none" strike="noStrike">
              <a:solidFill>
                <a:schemeClr val="dk1"/>
              </a:solidFill>
              <a:latin typeface="Twentieth Century"/>
              <a:ea typeface="Twentieth Century"/>
              <a:cs typeface="Twentieth Century"/>
              <a:sym typeface="Twentieth Century"/>
            </a:endParaRPr>
          </a:p>
          <a:p>
            <a:pPr indent="0" lvl="0" marL="0" marR="0" rtl="0" algn="ctr">
              <a:spcBef>
                <a:spcPts val="0"/>
              </a:spcBef>
              <a:spcAft>
                <a:spcPts val="0"/>
              </a:spcAft>
              <a:buNone/>
            </a:pPr>
            <a:r>
              <a:t/>
            </a:r>
            <a:endParaRPr b="1" i="0" sz="3200" u="none" cap="none" strike="noStrike">
              <a:solidFill>
                <a:schemeClr val="dk1"/>
              </a:solidFill>
              <a:latin typeface="Twentieth Century"/>
              <a:ea typeface="Twentieth Century"/>
              <a:cs typeface="Twentieth Century"/>
              <a:sym typeface="Twentieth Century"/>
            </a:endParaRPr>
          </a:p>
        </p:txBody>
      </p:sp>
      <p:sp>
        <p:nvSpPr>
          <p:cNvPr id="162" name="Google Shape;162;p2"/>
          <p:cNvSpPr txBox="1"/>
          <p:nvPr/>
        </p:nvSpPr>
        <p:spPr>
          <a:xfrm>
            <a:off x="8414796" y="3704624"/>
            <a:ext cx="3576577"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u="sng" cap="none" strike="noStrike">
                <a:solidFill>
                  <a:schemeClr val="dk1"/>
                </a:solidFill>
                <a:latin typeface="Times New Roman"/>
                <a:ea typeface="Times New Roman"/>
                <a:cs typeface="Times New Roman"/>
                <a:sym typeface="Times New Roman"/>
              </a:rPr>
              <a:t>Submitted to </a:t>
            </a:r>
            <a:r>
              <a:rPr b="0" i="0" lang="en-US" sz="2800" u="none" cap="none" strike="noStrike">
                <a:solidFill>
                  <a:schemeClr val="dk1"/>
                </a:solidFill>
                <a:latin typeface="Times New Roman"/>
                <a:ea typeface="Times New Roman"/>
                <a:cs typeface="Times New Roman"/>
                <a:sym typeface="Times New Roman"/>
              </a:rPr>
              <a:t>–</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Alif Ruslan</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Lecturer </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Department of CSE</a:t>
            </a:r>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University of Asia Pacific.</a:t>
            </a:r>
            <a:endParaRPr/>
          </a:p>
        </p:txBody>
      </p:sp>
      <p:sp>
        <p:nvSpPr>
          <p:cNvPr id="163" name="Google Shape;163;p2"/>
          <p:cNvSpPr txBox="1"/>
          <p:nvPr/>
        </p:nvSpPr>
        <p:spPr>
          <a:xfrm>
            <a:off x="200627" y="3858512"/>
            <a:ext cx="6270511" cy="25237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u="sng">
                <a:solidFill>
                  <a:schemeClr val="dk1"/>
                </a:solidFill>
                <a:latin typeface="Times New Roman"/>
                <a:ea typeface="Times New Roman"/>
                <a:cs typeface="Times New Roman"/>
                <a:sym typeface="Times New Roman"/>
              </a:rPr>
              <a:t>Submitted By </a:t>
            </a:r>
            <a:r>
              <a:rPr lang="en-US" sz="2800">
                <a:solidFill>
                  <a:schemeClr val="dk1"/>
                </a:solidFill>
                <a:latin typeface="Times New Roman"/>
                <a:ea typeface="Times New Roman"/>
                <a:cs typeface="Times New Roman"/>
                <a:sym typeface="Times New Roman"/>
              </a:rPr>
              <a:t>–</a:t>
            </a:r>
            <a:endParaRPr/>
          </a:p>
          <a:p>
            <a:pPr indent="0" lvl="0" marL="0" marR="0" rtl="0" algn="ctr">
              <a:spcBef>
                <a:spcPts val="0"/>
              </a:spcBef>
              <a:spcAft>
                <a:spcPts val="0"/>
              </a:spcAft>
              <a:buNone/>
            </a:pPr>
            <a:r>
              <a:t/>
            </a:r>
            <a:endParaRPr b="1" sz="2800">
              <a:solidFill>
                <a:schemeClr val="dk1"/>
              </a:solidFill>
              <a:latin typeface="Twentieth Century"/>
              <a:ea typeface="Twentieth Century"/>
              <a:cs typeface="Twentieth Century"/>
              <a:sym typeface="Twentieth Century"/>
            </a:endParaRPr>
          </a:p>
          <a:p>
            <a:pPr indent="0" lvl="0" marL="0" marR="0" rtl="0" algn="l">
              <a:spcBef>
                <a:spcPts val="0"/>
              </a:spcBef>
              <a:spcAft>
                <a:spcPts val="0"/>
              </a:spcAft>
              <a:buNone/>
            </a:pPr>
            <a:r>
              <a:rPr b="1" lang="en-US" sz="2800">
                <a:solidFill>
                  <a:schemeClr val="dk1"/>
                </a:solidFill>
                <a:latin typeface="Twentieth Century"/>
                <a:ea typeface="Twentieth Century"/>
                <a:cs typeface="Twentieth Century"/>
                <a:sym typeface="Twentieth Century"/>
              </a:rPr>
              <a:t>23201140- Md. Abdullah.</a:t>
            </a:r>
            <a:endParaRPr/>
          </a:p>
          <a:p>
            <a:pPr indent="0" lvl="0" marL="0" marR="0" rtl="0" algn="l">
              <a:spcBef>
                <a:spcPts val="0"/>
              </a:spcBef>
              <a:spcAft>
                <a:spcPts val="0"/>
              </a:spcAft>
              <a:buNone/>
            </a:pPr>
            <a:r>
              <a:rPr b="1" lang="en-US" sz="2800">
                <a:solidFill>
                  <a:schemeClr val="dk1"/>
                </a:solidFill>
                <a:latin typeface="Twentieth Century"/>
                <a:ea typeface="Twentieth Century"/>
                <a:cs typeface="Twentieth Century"/>
                <a:sym typeface="Twentieth Century"/>
              </a:rPr>
              <a:t>23201142- Shovon Debnath (G.Leader).</a:t>
            </a:r>
            <a:endParaRPr/>
          </a:p>
          <a:p>
            <a:pPr indent="0" lvl="0" marL="0" marR="0" rtl="0" algn="l">
              <a:spcBef>
                <a:spcPts val="0"/>
              </a:spcBef>
              <a:spcAft>
                <a:spcPts val="0"/>
              </a:spcAft>
              <a:buNone/>
            </a:pPr>
            <a:r>
              <a:rPr b="1" lang="en-US" sz="2800">
                <a:solidFill>
                  <a:schemeClr val="dk1"/>
                </a:solidFill>
                <a:latin typeface="Twentieth Century"/>
                <a:ea typeface="Twentieth Century"/>
                <a:cs typeface="Twentieth Century"/>
                <a:sym typeface="Twentieth Century"/>
              </a:rPr>
              <a:t>23201163- Sabbir Ahmed Shisir.</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
          <p:cNvSpPr txBox="1"/>
          <p:nvPr>
            <p:ph type="ctrTitle"/>
          </p:nvPr>
        </p:nvSpPr>
        <p:spPr>
          <a:xfrm>
            <a:off x="2376045" y="480350"/>
            <a:ext cx="7254092" cy="1371599"/>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B0F0"/>
              </a:buClr>
              <a:buSzPts val="4800"/>
              <a:buFont typeface="Times New Roman"/>
              <a:buNone/>
            </a:pPr>
            <a:r>
              <a:rPr b="1" i="1" lang="en-US" u="sng" cap="none">
                <a:solidFill>
                  <a:srgbClr val="00B0F0"/>
                </a:solidFill>
                <a:latin typeface="Times New Roman"/>
                <a:ea typeface="Times New Roman"/>
                <a:cs typeface="Times New Roman"/>
                <a:sym typeface="Times New Roman"/>
              </a:rPr>
              <a:t>Brief Idea-</a:t>
            </a:r>
            <a:endParaRPr/>
          </a:p>
        </p:txBody>
      </p:sp>
      <p:sp>
        <p:nvSpPr>
          <p:cNvPr id="169" name="Google Shape;169;p3"/>
          <p:cNvSpPr txBox="1"/>
          <p:nvPr>
            <p:ph idx="1" type="subTitle"/>
          </p:nvPr>
        </p:nvSpPr>
        <p:spPr>
          <a:xfrm>
            <a:off x="1357473" y="3139635"/>
            <a:ext cx="9696350" cy="2231018"/>
          </a:xfrm>
          <a:prstGeom prst="rect">
            <a:avLst/>
          </a:prstGeom>
          <a:noFill/>
          <a:ln>
            <a:noFill/>
          </a:ln>
        </p:spPr>
        <p:txBody>
          <a:bodyPr anchorCtr="0" anchor="t" bIns="45700" lIns="91425" spcFirstLastPara="1" rIns="91425" wrap="square" tIns="45700">
            <a:normAutofit/>
          </a:bodyPr>
          <a:lstStyle/>
          <a:p>
            <a:pPr indent="0" lvl="0" marL="0" rtl="0" algn="just">
              <a:lnSpc>
                <a:spcPct val="120000"/>
              </a:lnSpc>
              <a:spcBef>
                <a:spcPts val="0"/>
              </a:spcBef>
              <a:spcAft>
                <a:spcPts val="0"/>
              </a:spcAft>
              <a:buSzPts val="2200"/>
              <a:buNone/>
            </a:pPr>
            <a:r>
              <a:rPr b="1" lang="en-US">
                <a:solidFill>
                  <a:schemeClr val="dk1"/>
                </a:solidFill>
                <a:latin typeface="Times New Roman"/>
                <a:ea typeface="Times New Roman"/>
                <a:cs typeface="Times New Roman"/>
                <a:sym typeface="Times New Roman"/>
              </a:rPr>
              <a:t>AN ONLINE SHOPPING SYSTEM THAT ALLOWS CUSTOMERS TO ORDER PRODUCTS FROM SELLERS, MAKE SECURE PAYMENTS, AND TRACK DELIVERY WHILE THE SYSTEM MANAGES INVENTORY, CATEGORIES, AND ORDER DETAILS.</a:t>
            </a:r>
            <a:endParaRP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4"/>
          <p:cNvPicPr preferRelativeResize="0"/>
          <p:nvPr/>
        </p:nvPicPr>
        <p:blipFill rotWithShape="1">
          <a:blip r:embed="rId3">
            <a:alphaModFix/>
          </a:blip>
          <a:srcRect b="0" l="0" r="0" t="0"/>
          <a:stretch/>
        </p:blipFill>
        <p:spPr>
          <a:xfrm>
            <a:off x="0" y="-92597"/>
            <a:ext cx="12192000" cy="695059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78" name="Shape 178"/>
        <p:cNvGrpSpPr/>
        <p:nvPr/>
      </p:nvGrpSpPr>
      <p:grpSpPr>
        <a:xfrm>
          <a:off x="0" y="0"/>
          <a:ext cx="0" cy="0"/>
          <a:chOff x="0" y="0"/>
          <a:chExt cx="0" cy="0"/>
        </a:xfrm>
      </p:grpSpPr>
      <p:sp>
        <p:nvSpPr>
          <p:cNvPr id="179" name="Google Shape;179;p5"/>
          <p:cNvSpPr txBox="1"/>
          <p:nvPr/>
        </p:nvSpPr>
        <p:spPr>
          <a:xfrm>
            <a:off x="104172" y="944692"/>
            <a:ext cx="440995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CREATE TABLE Customers (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customer_id INT PRIMARY KEY,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name VARCHAR(100),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district VARCHAR(50),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address VARCHAR(255),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phone VARCHAR(20));</a:t>
            </a:r>
            <a:endParaRPr/>
          </a:p>
        </p:txBody>
      </p:sp>
      <p:sp>
        <p:nvSpPr>
          <p:cNvPr id="180" name="Google Shape;180;p5"/>
          <p:cNvSpPr txBox="1"/>
          <p:nvPr/>
        </p:nvSpPr>
        <p:spPr>
          <a:xfrm>
            <a:off x="40974" y="3253918"/>
            <a:ext cx="352209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CREATE TABLE Category (    category_id INT PRIMARY KEY,    category_name VARCHAR(255));</a:t>
            </a:r>
            <a:endParaRPr/>
          </a:p>
        </p:txBody>
      </p:sp>
      <p:sp>
        <p:nvSpPr>
          <p:cNvPr id="181" name="Google Shape;181;p5"/>
          <p:cNvSpPr txBox="1"/>
          <p:nvPr/>
        </p:nvSpPr>
        <p:spPr>
          <a:xfrm>
            <a:off x="0" y="4844766"/>
            <a:ext cx="322933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CREATE TABLE Sellers (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seller_id INT PRIMARY KEY,    seller_name VARCHAR(255));</a:t>
            </a:r>
            <a:endParaRPr/>
          </a:p>
        </p:txBody>
      </p:sp>
      <p:cxnSp>
        <p:nvCxnSpPr>
          <p:cNvPr id="182" name="Google Shape;182;p5"/>
          <p:cNvCxnSpPr/>
          <p:nvPr/>
        </p:nvCxnSpPr>
        <p:spPr>
          <a:xfrm>
            <a:off x="8102278" y="1039406"/>
            <a:ext cx="0" cy="5513982"/>
          </a:xfrm>
          <a:prstGeom prst="straightConnector1">
            <a:avLst/>
          </a:prstGeom>
          <a:noFill/>
          <a:ln cap="flat" cmpd="sng" w="22225">
            <a:solidFill>
              <a:schemeClr val="dk1"/>
            </a:solidFill>
            <a:prstDash val="solid"/>
            <a:round/>
            <a:headEnd len="sm" w="sm" type="none"/>
            <a:tailEnd len="sm" w="sm" type="none"/>
          </a:ln>
          <a:effectLst>
            <a:outerShdw blurRad="50800" rotWithShape="0" dir="5400000" dist="25400">
              <a:srgbClr val="000000">
                <a:alpha val="27843"/>
              </a:srgbClr>
            </a:outerShdw>
          </a:effectLst>
        </p:spPr>
      </p:cxnSp>
      <p:sp>
        <p:nvSpPr>
          <p:cNvPr id="183" name="Google Shape;183;p5"/>
          <p:cNvSpPr txBox="1"/>
          <p:nvPr/>
        </p:nvSpPr>
        <p:spPr>
          <a:xfrm>
            <a:off x="4340507" y="944692"/>
            <a:ext cx="3510986"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CREATE TABLE Products (    product_id INT PRIMARY KEY,    product_name VARCHAR(255),    price DECIMAL(10, 2),    category_id INT,    seller_id INT,    </a:t>
            </a:r>
            <a:endParaRPr/>
          </a:p>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FOREIGN KEY (category_id) 	REFERENCES Category(category_id),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FOREIGN KEY (seller_id) 	REFERENCES Sellers(seller_id));</a:t>
            </a:r>
            <a:endParaRPr/>
          </a:p>
        </p:txBody>
      </p:sp>
      <p:sp>
        <p:nvSpPr>
          <p:cNvPr id="184" name="Google Shape;184;p5"/>
          <p:cNvSpPr txBox="1"/>
          <p:nvPr/>
        </p:nvSpPr>
        <p:spPr>
          <a:xfrm>
            <a:off x="4676171" y="136680"/>
            <a:ext cx="317532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u="sng">
                <a:solidFill>
                  <a:srgbClr val="9B4C25"/>
                </a:solidFill>
                <a:latin typeface="Times New Roman"/>
                <a:ea typeface="Times New Roman"/>
                <a:cs typeface="Times New Roman"/>
                <a:sym typeface="Times New Roman"/>
              </a:rPr>
              <a:t>DBMS TABLE</a:t>
            </a:r>
            <a:r>
              <a:rPr lang="en-US" sz="2000" u="sng">
                <a:solidFill>
                  <a:srgbClr val="9B4C25"/>
                </a:solidFill>
                <a:latin typeface="Times New Roman"/>
                <a:ea typeface="Times New Roman"/>
                <a:cs typeface="Times New Roman"/>
                <a:sym typeface="Times New Roman"/>
              </a:rPr>
              <a:t> </a:t>
            </a:r>
            <a:r>
              <a:rPr lang="en-US" sz="2000" u="sng">
                <a:solidFill>
                  <a:schemeClr val="dk1"/>
                </a:solidFill>
                <a:latin typeface="Times New Roman"/>
                <a:ea typeface="Times New Roman"/>
                <a:cs typeface="Times New Roman"/>
                <a:sym typeface="Times New Roman"/>
              </a:rPr>
              <a:t>:</a:t>
            </a:r>
            <a:endParaRPr/>
          </a:p>
        </p:txBody>
      </p:sp>
      <p:sp>
        <p:nvSpPr>
          <p:cNvPr id="185" name="Google Shape;185;p5"/>
          <p:cNvSpPr txBox="1"/>
          <p:nvPr/>
        </p:nvSpPr>
        <p:spPr>
          <a:xfrm>
            <a:off x="8461094" y="5729468"/>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wentieth Century"/>
              <a:ea typeface="Twentieth Century"/>
              <a:cs typeface="Twentieth Century"/>
              <a:sym typeface="Twentieth Century"/>
            </a:endParaRPr>
          </a:p>
        </p:txBody>
      </p:sp>
      <p:sp>
        <p:nvSpPr>
          <p:cNvPr id="186" name="Google Shape;186;p5"/>
          <p:cNvSpPr txBox="1"/>
          <p:nvPr/>
        </p:nvSpPr>
        <p:spPr>
          <a:xfrm>
            <a:off x="8353064" y="944692"/>
            <a:ext cx="3734764"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CREATE TABLE Orders (    order_id INT PRIMARY KEY,    order_date DATE,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customer_id INT,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order_status VARCHAR(255),    product_id INT, seller_id INT,    </a:t>
            </a:r>
            <a:endParaRPr/>
          </a:p>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FOREIGN KEY (customer_id) 	REFERENCES Customers(customer_id),    </a:t>
            </a:r>
            <a:endParaRPr/>
          </a:p>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FOREIGN KEY (product_id) 	REFERENCES Products(product_id),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FOREIGN KEY (seller_id) 	REFERENCES Sellers(seller_id));</a:t>
            </a:r>
            <a:endParaRPr/>
          </a:p>
        </p:txBody>
      </p:sp>
      <p:cxnSp>
        <p:nvCxnSpPr>
          <p:cNvPr id="187" name="Google Shape;187;p5"/>
          <p:cNvCxnSpPr/>
          <p:nvPr/>
        </p:nvCxnSpPr>
        <p:spPr>
          <a:xfrm>
            <a:off x="4064643" y="1097092"/>
            <a:ext cx="0" cy="5513982"/>
          </a:xfrm>
          <a:prstGeom prst="straightConnector1">
            <a:avLst/>
          </a:prstGeom>
          <a:noFill/>
          <a:ln cap="flat" cmpd="sng" w="22225">
            <a:solidFill>
              <a:schemeClr val="dk1"/>
            </a:solidFill>
            <a:prstDash val="solid"/>
            <a:round/>
            <a:headEnd len="sm" w="sm" type="none"/>
            <a:tailEnd len="sm" w="sm" type="none"/>
          </a:ln>
          <a:effectLst>
            <a:outerShdw blurRad="50800" rotWithShape="0" dir="5400000" dist="25400">
              <a:srgbClr val="000000">
                <a:alpha val="27843"/>
              </a:srgbClr>
            </a:outerShdw>
          </a:effectLst>
        </p:spPr>
      </p:cxnSp>
    </p:spTree>
  </p:cSld>
  <p:clrMapOvr>
    <a:masterClrMapping/>
  </p:clrMapOvr>
  <p:transition spd="med">
    <p:split orient="ver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91" name="Shape 191"/>
        <p:cNvGrpSpPr/>
        <p:nvPr/>
      </p:nvGrpSpPr>
      <p:grpSpPr>
        <a:xfrm>
          <a:off x="0" y="0"/>
          <a:ext cx="0" cy="0"/>
          <a:chOff x="0" y="0"/>
          <a:chExt cx="0" cy="0"/>
        </a:xfrm>
      </p:grpSpPr>
      <p:sp>
        <p:nvSpPr>
          <p:cNvPr id="192" name="Google Shape;192;p6"/>
          <p:cNvSpPr txBox="1"/>
          <p:nvPr/>
        </p:nvSpPr>
        <p:spPr>
          <a:xfrm>
            <a:off x="4718613" y="92066"/>
            <a:ext cx="21760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u="sng">
                <a:solidFill>
                  <a:srgbClr val="9B4C25"/>
                </a:solidFill>
                <a:latin typeface="Times New Roman"/>
                <a:ea typeface="Times New Roman"/>
                <a:cs typeface="Times New Roman"/>
                <a:sym typeface="Times New Roman"/>
              </a:rPr>
              <a:t>DBMS TABLE</a:t>
            </a:r>
            <a:r>
              <a:rPr lang="en-US" sz="1800" u="sng">
                <a:solidFill>
                  <a:srgbClr val="9B4C25"/>
                </a:solidFill>
                <a:latin typeface="Times New Roman"/>
                <a:ea typeface="Times New Roman"/>
                <a:cs typeface="Times New Roman"/>
                <a:sym typeface="Times New Roman"/>
              </a:rPr>
              <a:t> </a:t>
            </a:r>
            <a:r>
              <a:rPr b="1" lang="en-US" sz="1800" u="sng">
                <a:solidFill>
                  <a:srgbClr val="9B4C25"/>
                </a:solidFill>
                <a:latin typeface="Times New Roman"/>
                <a:ea typeface="Times New Roman"/>
                <a:cs typeface="Times New Roman"/>
                <a:sym typeface="Times New Roman"/>
              </a:rPr>
              <a:t>:</a:t>
            </a:r>
            <a:endParaRPr b="1" sz="1800">
              <a:solidFill>
                <a:schemeClr val="dk1"/>
              </a:solidFill>
              <a:latin typeface="Twentieth Century"/>
              <a:ea typeface="Twentieth Century"/>
              <a:cs typeface="Twentieth Century"/>
              <a:sym typeface="Twentieth Century"/>
            </a:endParaRPr>
          </a:p>
        </p:txBody>
      </p:sp>
      <p:sp>
        <p:nvSpPr>
          <p:cNvPr id="193" name="Google Shape;193;p6"/>
          <p:cNvSpPr txBox="1"/>
          <p:nvPr/>
        </p:nvSpPr>
        <p:spPr>
          <a:xfrm>
            <a:off x="208343" y="485308"/>
            <a:ext cx="5069711"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CREATE TABLE Cointains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order_id INT,</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product_id INT,</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PRIMARY KEY (order_id, product_id),</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FOREIGN KEY (order_id) REFERENCES Orders(order_id),</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FOREIGN KEY (product_id) REFERENCES Products(product_id)</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a:t>
            </a:r>
            <a:endParaRPr/>
          </a:p>
        </p:txBody>
      </p:sp>
      <p:cxnSp>
        <p:nvCxnSpPr>
          <p:cNvPr id="194" name="Google Shape;194;p6"/>
          <p:cNvCxnSpPr/>
          <p:nvPr/>
        </p:nvCxnSpPr>
        <p:spPr>
          <a:xfrm>
            <a:off x="5609864" y="914399"/>
            <a:ext cx="0" cy="5745941"/>
          </a:xfrm>
          <a:prstGeom prst="straightConnector1">
            <a:avLst/>
          </a:prstGeom>
          <a:noFill/>
          <a:ln cap="flat" cmpd="sng" w="22225">
            <a:solidFill>
              <a:schemeClr val="dk1"/>
            </a:solidFill>
            <a:prstDash val="solid"/>
            <a:round/>
            <a:headEnd len="sm" w="sm" type="none"/>
            <a:tailEnd len="sm" w="sm" type="none"/>
          </a:ln>
          <a:effectLst>
            <a:outerShdw blurRad="50800" rotWithShape="0" dir="5400000" dist="25400">
              <a:srgbClr val="000000">
                <a:alpha val="27843"/>
              </a:srgbClr>
            </a:outerShdw>
          </a:effectLst>
        </p:spPr>
      </p:cxnSp>
      <p:sp>
        <p:nvSpPr>
          <p:cNvPr id="195" name="Google Shape;195;p6"/>
          <p:cNvSpPr txBox="1"/>
          <p:nvPr/>
        </p:nvSpPr>
        <p:spPr>
          <a:xfrm>
            <a:off x="289366" y="3787369"/>
            <a:ext cx="3796497"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CREATE TABLE Inventory (    inventory_id INT PRIMARY KEY,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product_id INT,    stock_remaining INT,    warehouse_id INT,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restock_date DATE,    </a:t>
            </a:r>
            <a:endParaRPr/>
          </a:p>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FOREIGN KEY (product_id) 	REFERENCES Products(product_id));</a:t>
            </a:r>
            <a:endParaRPr/>
          </a:p>
        </p:txBody>
      </p:sp>
      <p:sp>
        <p:nvSpPr>
          <p:cNvPr id="196" name="Google Shape;196;p6"/>
          <p:cNvSpPr txBox="1"/>
          <p:nvPr/>
        </p:nvSpPr>
        <p:spPr>
          <a:xfrm>
            <a:off x="6647718" y="537163"/>
            <a:ext cx="4224757"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CREATE TABLE Shipping (    shipping_id INT PRIMARY     KEY,    order_id INT,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delivery_status VARCHAR(255),    shipping_date DATE,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return_date DATE, </a:t>
            </a:r>
            <a:endParaRPr/>
          </a:p>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FOREIGN KEY (order_id) 	REFERENCES Orders(order_id));</a:t>
            </a:r>
            <a:endParaRPr/>
          </a:p>
        </p:txBody>
      </p:sp>
      <p:sp>
        <p:nvSpPr>
          <p:cNvPr id="197" name="Google Shape;197;p6"/>
          <p:cNvSpPr txBox="1"/>
          <p:nvPr/>
        </p:nvSpPr>
        <p:spPr>
          <a:xfrm>
            <a:off x="6647718" y="3643131"/>
            <a:ext cx="3539916"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CREATE TABLE Payments (    payment_id INT PRIMARY KEY,    payment_date DATE,    payment_mode VARCHAR(255),    payment_status VARCHAR(255),    order_id INT, </a:t>
            </a:r>
            <a:endParaRPr/>
          </a:p>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FOREIGN KEY (order_id) 	REFERENCES Orders(order_id));</a:t>
            </a:r>
            <a:endParaRP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01" name="Shape 201"/>
        <p:cNvGrpSpPr/>
        <p:nvPr/>
      </p:nvGrpSpPr>
      <p:grpSpPr>
        <a:xfrm>
          <a:off x="0" y="0"/>
          <a:ext cx="0" cy="0"/>
          <a:chOff x="0" y="0"/>
          <a:chExt cx="0" cy="0"/>
        </a:xfrm>
      </p:grpSpPr>
      <p:sp>
        <p:nvSpPr>
          <p:cNvPr id="202" name="Google Shape;202;p7"/>
          <p:cNvSpPr txBox="1"/>
          <p:nvPr/>
        </p:nvSpPr>
        <p:spPr>
          <a:xfrm>
            <a:off x="4120588" y="196770"/>
            <a:ext cx="425948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u="sng">
                <a:solidFill>
                  <a:srgbClr val="0A5483"/>
                </a:solidFill>
                <a:latin typeface="Times New Roman"/>
                <a:ea typeface="Times New Roman"/>
                <a:cs typeface="Times New Roman"/>
                <a:sym typeface="Times New Roman"/>
              </a:rPr>
              <a:t>Relation among Tables</a:t>
            </a:r>
            <a:r>
              <a:rPr b="1" lang="en-US" sz="1800" u="sng">
                <a:solidFill>
                  <a:srgbClr val="0A5483"/>
                </a:solidFill>
                <a:latin typeface="Times New Roman"/>
                <a:ea typeface="Times New Roman"/>
                <a:cs typeface="Times New Roman"/>
                <a:sym typeface="Times New Roman"/>
              </a:rPr>
              <a:t>:</a:t>
            </a:r>
            <a:endParaRPr/>
          </a:p>
        </p:txBody>
      </p:sp>
      <p:graphicFrame>
        <p:nvGraphicFramePr>
          <p:cNvPr id="203" name="Google Shape;203;p7"/>
          <p:cNvGraphicFramePr/>
          <p:nvPr/>
        </p:nvGraphicFramePr>
        <p:xfrm>
          <a:off x="343383" y="902828"/>
          <a:ext cx="3000000" cy="3000000"/>
        </p:xfrm>
        <a:graphic>
          <a:graphicData uri="http://schemas.openxmlformats.org/drawingml/2006/table">
            <a:tbl>
              <a:tblPr>
                <a:noFill/>
                <a:tableStyleId>{8138E8FE-A1B6-4B40-A79C-6BE1C933E8AF}</a:tableStyleId>
              </a:tblPr>
              <a:tblGrid>
                <a:gridCol w="2876300"/>
                <a:gridCol w="2876300"/>
                <a:gridCol w="1788475"/>
                <a:gridCol w="3964150"/>
              </a:tblGrid>
              <a:tr h="639075">
                <a:tc>
                  <a:txBody>
                    <a:bodyPr/>
                    <a:lstStyle/>
                    <a:p>
                      <a:pPr indent="0" lvl="0" marL="0" marR="0" rtl="0" algn="ctr">
                        <a:lnSpc>
                          <a:spcPct val="115000"/>
                        </a:lnSpc>
                        <a:spcBef>
                          <a:spcPts val="0"/>
                        </a:spcBef>
                        <a:spcAft>
                          <a:spcPts val="0"/>
                        </a:spcAft>
                        <a:buClr>
                          <a:schemeClr val="dk1"/>
                        </a:buClr>
                        <a:buSzPts val="2000"/>
                        <a:buFont typeface="Twentieth Century"/>
                        <a:buNone/>
                      </a:pPr>
                      <a:r>
                        <a:rPr b="1" lang="en-US" sz="2000" u="none" cap="none" strike="noStrike"/>
                        <a:t>Relationship</a:t>
                      </a:r>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 </a:t>
                      </a:r>
                      <a:r>
                        <a:rPr b="1" lang="en-US" sz="2000" u="none" cap="none" strike="noStrike"/>
                        <a:t>Entities Involved</a:t>
                      </a:r>
                      <a:endParaRPr b="1"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b="1" lang="en-US" sz="2000" u="none" cap="none" strike="noStrike"/>
                        <a:t>Cardinality</a:t>
                      </a:r>
                      <a:endParaRPr b="1"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b="1" lang="en-US" sz="2000" u="none" cap="none" strike="noStrike"/>
                        <a:t>Participation</a:t>
                      </a:r>
                      <a:endParaRPr b="1" sz="2000" u="none" cap="none" strike="noStrike">
                        <a:latin typeface="Arial"/>
                        <a:ea typeface="Arial"/>
                        <a:cs typeface="Arial"/>
                        <a:sym typeface="Arial"/>
                      </a:endParaRPr>
                    </a:p>
                  </a:txBody>
                  <a:tcPr marT="43825" marB="43825" marR="43825" marL="43825"/>
                </a:tc>
              </a:tr>
              <a:tr h="639075">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solidFill>
                            <a:schemeClr val="dk1"/>
                          </a:solidFill>
                        </a:rPr>
                        <a:t>Places</a:t>
                      </a:r>
                      <a:endParaRPr sz="2000" u="none" cap="none" strike="noStrike">
                        <a:solidFill>
                          <a:schemeClr val="dk1"/>
                        </a:solidFill>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 Customer – Orders</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1:N</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Customer (Partial) - Orders (Total)</a:t>
                      </a:r>
                      <a:endParaRPr sz="2000" u="none" cap="none" strike="noStrike">
                        <a:latin typeface="Arial"/>
                        <a:ea typeface="Arial"/>
                        <a:cs typeface="Arial"/>
                        <a:sym typeface="Arial"/>
                      </a:endParaRPr>
                    </a:p>
                  </a:txBody>
                  <a:tcPr marT="43825" marB="43825" marR="43825" marL="43825"/>
                </a:tc>
              </a:tr>
              <a:tr h="639075">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solidFill>
                            <a:schemeClr val="dk1"/>
                          </a:solidFill>
                        </a:rPr>
                        <a:t>Makes Payment</a:t>
                      </a:r>
                      <a:endParaRPr sz="2000" u="none" cap="none" strike="noStrike">
                        <a:solidFill>
                          <a:schemeClr val="dk1"/>
                        </a:solidFill>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Orders – Payment</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1:N</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Orders (Partial) - Payment  (Total)</a:t>
                      </a:r>
                      <a:endParaRPr sz="2000" u="none" cap="none" strike="noStrike">
                        <a:latin typeface="Arial"/>
                        <a:ea typeface="Arial"/>
                        <a:cs typeface="Arial"/>
                        <a:sym typeface="Arial"/>
                      </a:endParaRPr>
                    </a:p>
                  </a:txBody>
                  <a:tcPr marT="43825" marB="43825" marR="43825" marL="43825"/>
                </a:tc>
              </a:tr>
              <a:tr h="639075">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solidFill>
                            <a:schemeClr val="dk1"/>
                          </a:solidFill>
                        </a:rPr>
                        <a:t>Ships</a:t>
                      </a:r>
                      <a:endParaRPr sz="2000" u="none" cap="none" strike="noStrike">
                        <a:solidFill>
                          <a:schemeClr val="dk1"/>
                        </a:solidFill>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Order – Shipping</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1:N</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Order (Partial) - Shipping (Total)</a:t>
                      </a:r>
                      <a:endParaRPr sz="2000" u="none" cap="none" strike="noStrike">
                        <a:latin typeface="Arial"/>
                        <a:ea typeface="Arial"/>
                        <a:cs typeface="Arial"/>
                        <a:sym typeface="Arial"/>
                      </a:endParaRPr>
                    </a:p>
                  </a:txBody>
                  <a:tcPr marT="43825" marB="43825" marR="43825" marL="43825"/>
                </a:tc>
              </a:tr>
              <a:tr h="645750">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solidFill>
                            <a:schemeClr val="dk1"/>
                          </a:solidFill>
                        </a:rPr>
                        <a:t>Contains</a:t>
                      </a:r>
                      <a:endParaRPr sz="2000" u="none" cap="none" strike="noStrike">
                        <a:solidFill>
                          <a:schemeClr val="dk1"/>
                        </a:solidFill>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 Order – Product </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M :N</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Order (Total) - Product (Partial)</a:t>
                      </a:r>
                      <a:endParaRPr sz="2000" u="none" cap="none" strike="noStrike">
                        <a:latin typeface="Arial"/>
                        <a:ea typeface="Arial"/>
                        <a:cs typeface="Arial"/>
                        <a:sym typeface="Arial"/>
                      </a:endParaRPr>
                    </a:p>
                  </a:txBody>
                  <a:tcPr marT="43825" marB="43825" marR="43825" marL="43825"/>
                </a:tc>
              </a:tr>
              <a:tr h="639075">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solidFill>
                            <a:schemeClr val="dk1"/>
                          </a:solidFill>
                        </a:rPr>
                        <a:t>Offers</a:t>
                      </a:r>
                      <a:endParaRPr sz="2000" u="none" cap="none" strike="noStrike">
                        <a:solidFill>
                          <a:schemeClr val="dk1"/>
                        </a:solidFill>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 Sellers – Product</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1:N</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Sellers (Partial) - Product (Total)</a:t>
                      </a:r>
                      <a:endParaRPr sz="2000" u="none" cap="none" strike="noStrike">
                        <a:latin typeface="Arial"/>
                        <a:ea typeface="Arial"/>
                        <a:cs typeface="Arial"/>
                        <a:sym typeface="Arial"/>
                      </a:endParaRPr>
                    </a:p>
                  </a:txBody>
                  <a:tcPr marT="43825" marB="43825" marR="43825" marL="43825"/>
                </a:tc>
              </a:tr>
              <a:tr h="639075">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solidFill>
                            <a:schemeClr val="dk1"/>
                          </a:solidFill>
                        </a:rPr>
                        <a:t>Categorizes</a:t>
                      </a:r>
                      <a:endParaRPr sz="2000" u="none" cap="none" strike="noStrike">
                        <a:solidFill>
                          <a:schemeClr val="dk1"/>
                        </a:solidFill>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 Category – Product</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1:N</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Category (Partial) - Product (Total)</a:t>
                      </a:r>
                      <a:endParaRPr sz="2000" u="none" cap="none" strike="noStrike">
                        <a:latin typeface="Arial"/>
                        <a:ea typeface="Arial"/>
                        <a:cs typeface="Arial"/>
                        <a:sym typeface="Arial"/>
                      </a:endParaRPr>
                    </a:p>
                  </a:txBody>
                  <a:tcPr marT="43825" marB="43825" marR="43825" marL="43825"/>
                </a:tc>
              </a:tr>
              <a:tr h="639075">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solidFill>
                            <a:schemeClr val="dk1"/>
                          </a:solidFill>
                        </a:rPr>
                        <a:t> Stored In </a:t>
                      </a:r>
                      <a:endParaRPr sz="2000" u="none" cap="none" strike="noStrike">
                        <a:solidFill>
                          <a:schemeClr val="dk1"/>
                        </a:solidFill>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 Product – Inventory</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1:N</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Product (Total) - Inventory (Total)</a:t>
                      </a:r>
                      <a:endParaRPr sz="2000" u="none" cap="none" strike="noStrike">
                        <a:latin typeface="Arial"/>
                        <a:ea typeface="Arial"/>
                        <a:cs typeface="Arial"/>
                        <a:sym typeface="Arial"/>
                      </a:endParaRPr>
                    </a:p>
                  </a:txBody>
                  <a:tcPr marT="43825" marB="43825" marR="43825" marL="43825"/>
                </a:tc>
              </a:tr>
              <a:tr h="639075">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solidFill>
                            <a:schemeClr val="dk1"/>
                          </a:solidFill>
                        </a:rPr>
                        <a:t>Fulfils</a:t>
                      </a:r>
                      <a:endParaRPr sz="2000" u="none" cap="none" strike="noStrike">
                        <a:solidFill>
                          <a:schemeClr val="dk1"/>
                        </a:solidFill>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Sellers – Orders</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1:N</a:t>
                      </a:r>
                      <a:endParaRPr sz="2000" u="none" cap="none" strike="noStrike">
                        <a:latin typeface="Arial"/>
                        <a:ea typeface="Arial"/>
                        <a:cs typeface="Arial"/>
                        <a:sym typeface="Arial"/>
                      </a:endParaRPr>
                    </a:p>
                  </a:txBody>
                  <a:tcPr marT="43825" marB="43825" marR="43825" marL="43825"/>
                </a:tc>
                <a:tc>
                  <a:txBody>
                    <a:bodyPr/>
                    <a:lstStyle/>
                    <a:p>
                      <a:pPr indent="0" lvl="0" marL="0" marR="0" rtl="0" algn="ctr">
                        <a:lnSpc>
                          <a:spcPct val="115000"/>
                        </a:lnSpc>
                        <a:spcBef>
                          <a:spcPts val="0"/>
                        </a:spcBef>
                        <a:spcAft>
                          <a:spcPts val="0"/>
                        </a:spcAft>
                        <a:buClr>
                          <a:schemeClr val="dk1"/>
                        </a:buClr>
                        <a:buSzPts val="2000"/>
                        <a:buFont typeface="Twentieth Century"/>
                        <a:buNone/>
                      </a:pPr>
                      <a:r>
                        <a:rPr lang="en-US" sz="2000" u="none" cap="none" strike="noStrike"/>
                        <a:t>Sellers (Partial) - Orders (Total)</a:t>
                      </a:r>
                      <a:endParaRPr sz="2000" u="none" cap="none" strike="noStrike">
                        <a:latin typeface="Arial"/>
                        <a:ea typeface="Arial"/>
                        <a:cs typeface="Arial"/>
                        <a:sym typeface="Arial"/>
                      </a:endParaRPr>
                    </a:p>
                  </a:txBody>
                  <a:tcPr marT="43825" marB="43825" marR="43825" marL="438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07" name="Shape 207"/>
        <p:cNvGrpSpPr/>
        <p:nvPr/>
      </p:nvGrpSpPr>
      <p:grpSpPr>
        <a:xfrm>
          <a:off x="0" y="0"/>
          <a:ext cx="0" cy="0"/>
          <a:chOff x="0" y="0"/>
          <a:chExt cx="0" cy="0"/>
        </a:xfrm>
      </p:grpSpPr>
      <p:sp>
        <p:nvSpPr>
          <p:cNvPr id="208" name="Google Shape;208;p8"/>
          <p:cNvSpPr txBox="1"/>
          <p:nvPr/>
        </p:nvSpPr>
        <p:spPr>
          <a:xfrm>
            <a:off x="150471" y="0"/>
            <a:ext cx="24422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u="sng">
                <a:solidFill>
                  <a:schemeClr val="dk1"/>
                </a:solidFill>
                <a:latin typeface="Times New Roman"/>
                <a:ea typeface="Times New Roman"/>
                <a:cs typeface="Times New Roman"/>
                <a:sym typeface="Times New Roman"/>
              </a:rPr>
              <a:t>ER Diagram:</a:t>
            </a:r>
            <a:endParaRPr/>
          </a:p>
        </p:txBody>
      </p:sp>
      <p:pic>
        <p:nvPicPr>
          <p:cNvPr id="209" name="Google Shape;209;p8"/>
          <p:cNvPicPr preferRelativeResize="0"/>
          <p:nvPr/>
        </p:nvPicPr>
        <p:blipFill rotWithShape="1">
          <a:blip r:embed="rId3">
            <a:alphaModFix/>
          </a:blip>
          <a:srcRect b="0" l="0" r="0" t="0"/>
          <a:stretch/>
        </p:blipFill>
        <p:spPr>
          <a:xfrm>
            <a:off x="590308" y="385638"/>
            <a:ext cx="11181145" cy="64723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44444C"/>
        </a:solidFill>
      </p:bgPr>
    </p:bg>
    <p:spTree>
      <p:nvGrpSpPr>
        <p:cNvPr id="213" name="Shape 213"/>
        <p:cNvGrpSpPr/>
        <p:nvPr/>
      </p:nvGrpSpPr>
      <p:grpSpPr>
        <a:xfrm>
          <a:off x="0" y="0"/>
          <a:ext cx="0" cy="0"/>
          <a:chOff x="0" y="0"/>
          <a:chExt cx="0" cy="0"/>
        </a:xfrm>
      </p:grpSpPr>
      <p:sp>
        <p:nvSpPr>
          <p:cNvPr id="214" name="Google Shape;214;p9"/>
          <p:cNvSpPr txBox="1"/>
          <p:nvPr/>
        </p:nvSpPr>
        <p:spPr>
          <a:xfrm>
            <a:off x="0" y="0"/>
            <a:ext cx="20718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u="sng">
                <a:solidFill>
                  <a:schemeClr val="lt1"/>
                </a:solidFill>
                <a:latin typeface="Times New Roman"/>
                <a:ea typeface="Times New Roman"/>
                <a:cs typeface="Times New Roman"/>
                <a:sym typeface="Times New Roman"/>
              </a:rPr>
              <a:t>Schema Diagram </a:t>
            </a:r>
            <a:r>
              <a:rPr lang="en-US" sz="1800">
                <a:solidFill>
                  <a:schemeClr val="dk1"/>
                </a:solidFill>
                <a:latin typeface="Times New Roman"/>
                <a:ea typeface="Times New Roman"/>
                <a:cs typeface="Times New Roman"/>
                <a:sym typeface="Times New Roman"/>
              </a:rPr>
              <a:t>:</a:t>
            </a:r>
            <a:endParaRPr/>
          </a:p>
        </p:txBody>
      </p:sp>
      <p:pic>
        <p:nvPicPr>
          <p:cNvPr id="215" name="Google Shape;215;p9"/>
          <p:cNvPicPr preferRelativeResize="0"/>
          <p:nvPr/>
        </p:nvPicPr>
        <p:blipFill rotWithShape="1">
          <a:blip r:embed="rId3">
            <a:alphaModFix/>
          </a:blip>
          <a:srcRect b="0" l="0" r="0" t="0"/>
          <a:stretch/>
        </p:blipFill>
        <p:spPr>
          <a:xfrm>
            <a:off x="162045" y="377624"/>
            <a:ext cx="11945074" cy="6480376"/>
          </a:xfrm>
          <a:prstGeom prst="rect">
            <a:avLst/>
          </a:prstGeom>
          <a:noFill/>
          <a:ln>
            <a:noFill/>
          </a:ln>
        </p:spPr>
      </p:pic>
    </p:spTree>
  </p:cSld>
  <p:clrMapOvr>
    <a:masterClrMapping/>
  </p:clrMapOvr>
  <p:transition spd="slow" p14:dur="800">
    <p:circl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19" name="Shape 219"/>
        <p:cNvGrpSpPr/>
        <p:nvPr/>
      </p:nvGrpSpPr>
      <p:grpSpPr>
        <a:xfrm>
          <a:off x="0" y="0"/>
          <a:ext cx="0" cy="0"/>
          <a:chOff x="0" y="0"/>
          <a:chExt cx="0" cy="0"/>
        </a:xfrm>
      </p:grpSpPr>
      <p:sp>
        <p:nvSpPr>
          <p:cNvPr id="220" name="Google Shape;220;p10"/>
          <p:cNvSpPr txBox="1"/>
          <p:nvPr/>
        </p:nvSpPr>
        <p:spPr>
          <a:xfrm>
            <a:off x="127320" y="0"/>
            <a:ext cx="281264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u="sng">
                <a:solidFill>
                  <a:schemeClr val="dk1"/>
                </a:solidFill>
                <a:latin typeface="Twentieth Century"/>
                <a:ea typeface="Twentieth Century"/>
                <a:cs typeface="Twentieth Century"/>
                <a:sym typeface="Twentieth Century"/>
              </a:rPr>
              <a:t>Query</a:t>
            </a:r>
            <a:r>
              <a:rPr lang="en-US" sz="2000">
                <a:solidFill>
                  <a:schemeClr val="dk1"/>
                </a:solidFill>
                <a:latin typeface="Twentieth Century"/>
                <a:ea typeface="Twentieth Century"/>
                <a:cs typeface="Twentieth Century"/>
                <a:sym typeface="Twentieth Century"/>
              </a:rPr>
              <a:t> </a:t>
            </a:r>
            <a:r>
              <a:rPr b="1" lang="en-US" sz="2000">
                <a:solidFill>
                  <a:schemeClr val="dk1"/>
                </a:solidFill>
                <a:latin typeface="Twentieth Century"/>
                <a:ea typeface="Twentieth Century"/>
                <a:cs typeface="Twentieth Century"/>
                <a:sym typeface="Twentieth Century"/>
              </a:rPr>
              <a:t>:</a:t>
            </a:r>
            <a:endParaRPr/>
          </a:p>
        </p:txBody>
      </p:sp>
      <p:pic>
        <p:nvPicPr>
          <p:cNvPr id="221" name="Google Shape;221;p10"/>
          <p:cNvPicPr preferRelativeResize="0"/>
          <p:nvPr/>
        </p:nvPicPr>
        <p:blipFill rotWithShape="1">
          <a:blip r:embed="rId3">
            <a:alphaModFix/>
          </a:blip>
          <a:srcRect b="0" l="0" r="0" t="0"/>
          <a:stretch/>
        </p:blipFill>
        <p:spPr>
          <a:xfrm>
            <a:off x="0" y="1921681"/>
            <a:ext cx="2939966" cy="1606633"/>
          </a:xfrm>
          <a:prstGeom prst="rect">
            <a:avLst/>
          </a:prstGeom>
          <a:noFill/>
          <a:ln>
            <a:noFill/>
          </a:ln>
        </p:spPr>
      </p:pic>
      <p:sp>
        <p:nvSpPr>
          <p:cNvPr id="222" name="Google Shape;222;p10"/>
          <p:cNvSpPr txBox="1"/>
          <p:nvPr/>
        </p:nvSpPr>
        <p:spPr>
          <a:xfrm>
            <a:off x="-1" y="400110"/>
            <a:ext cx="5370649"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-- 1. Find products priced between 300 and 800</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SELECT product_name, price</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FROM Products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WHERE price BETWEEN 300 AND 800</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LIMIT 5;</a:t>
            </a:r>
            <a:endParaRPr/>
          </a:p>
        </p:txBody>
      </p:sp>
      <p:cxnSp>
        <p:nvCxnSpPr>
          <p:cNvPr id="223" name="Google Shape;223;p10"/>
          <p:cNvCxnSpPr/>
          <p:nvPr/>
        </p:nvCxnSpPr>
        <p:spPr>
          <a:xfrm>
            <a:off x="6096000" y="598703"/>
            <a:ext cx="0" cy="6065134"/>
          </a:xfrm>
          <a:prstGeom prst="straightConnector1">
            <a:avLst/>
          </a:prstGeom>
          <a:noFill/>
          <a:ln cap="flat" cmpd="sng" w="22225">
            <a:solidFill>
              <a:schemeClr val="dk1"/>
            </a:solidFill>
            <a:prstDash val="solid"/>
            <a:round/>
            <a:headEnd len="sm" w="sm" type="none"/>
            <a:tailEnd len="sm" w="sm" type="none"/>
          </a:ln>
          <a:effectLst>
            <a:outerShdw blurRad="50800" rotWithShape="0" dir="5400000" dist="25400">
              <a:srgbClr val="000000">
                <a:alpha val="27843"/>
              </a:srgbClr>
            </a:outerShdw>
          </a:effectLst>
        </p:spPr>
      </p:cxnSp>
      <p:sp>
        <p:nvSpPr>
          <p:cNvPr id="224" name="Google Shape;224;p10"/>
          <p:cNvSpPr txBox="1"/>
          <p:nvPr/>
        </p:nvSpPr>
        <p:spPr>
          <a:xfrm>
            <a:off x="50101" y="3528314"/>
            <a:ext cx="5514535"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-- 2. Update inventory table</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UPDATE Inventory</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SET stock_remaining = stock_remaining + 20</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WHERE product_id = 105;</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Select * FROM Inventory</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LIMIT 5;</a:t>
            </a:r>
            <a:endParaRPr/>
          </a:p>
        </p:txBody>
      </p:sp>
      <p:pic>
        <p:nvPicPr>
          <p:cNvPr id="225" name="Google Shape;225;p10"/>
          <p:cNvPicPr preferRelativeResize="0"/>
          <p:nvPr/>
        </p:nvPicPr>
        <p:blipFill rotWithShape="1">
          <a:blip r:embed="rId4">
            <a:alphaModFix/>
          </a:blip>
          <a:srcRect b="0" l="0" r="0" t="0"/>
          <a:stretch/>
        </p:blipFill>
        <p:spPr>
          <a:xfrm>
            <a:off x="-2" y="5254614"/>
            <a:ext cx="5514536" cy="1603386"/>
          </a:xfrm>
          <a:prstGeom prst="rect">
            <a:avLst/>
          </a:prstGeom>
          <a:noFill/>
          <a:ln>
            <a:noFill/>
          </a:ln>
        </p:spPr>
      </p:pic>
      <p:sp>
        <p:nvSpPr>
          <p:cNvPr id="226" name="Google Shape;226;p10"/>
          <p:cNvSpPr txBox="1"/>
          <p:nvPr/>
        </p:nvSpPr>
        <p:spPr>
          <a:xfrm>
            <a:off x="6507472" y="0"/>
            <a:ext cx="6083109"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--3 All products ordered by price descending</a:t>
            </a:r>
            <a:endParaRPr/>
          </a:p>
          <a:p>
            <a:pPr indent="0" lvl="0" marL="0" marR="0" rtl="0" algn="l">
              <a:spcBef>
                <a:spcPts val="0"/>
              </a:spcBef>
              <a:spcAft>
                <a:spcPts val="0"/>
              </a:spcAft>
              <a:buNone/>
            </a:pPr>
            <a:r>
              <a:rPr b="1" lang="en-US" sz="1800">
                <a:solidFill>
                  <a:schemeClr val="dk1"/>
                </a:solidFill>
                <a:latin typeface="Twentieth Century"/>
                <a:ea typeface="Twentieth Century"/>
                <a:cs typeface="Twentieth Century"/>
                <a:sym typeface="Twentieth Century"/>
              </a:rPr>
              <a:t>SELECT product_id, product_name, price</a:t>
            </a:r>
            <a:endParaRPr/>
          </a:p>
          <a:p>
            <a:pPr indent="0" lvl="0" marL="0" marR="0" rtl="0" algn="l">
              <a:spcBef>
                <a:spcPts val="0"/>
              </a:spcBef>
              <a:spcAft>
                <a:spcPts val="0"/>
              </a:spcAft>
              <a:buNone/>
            </a:pPr>
            <a:r>
              <a:rPr b="1" lang="en-US" sz="1800">
                <a:solidFill>
                  <a:schemeClr val="dk1"/>
                </a:solidFill>
                <a:latin typeface="Twentieth Century"/>
                <a:ea typeface="Twentieth Century"/>
                <a:cs typeface="Twentieth Century"/>
                <a:sym typeface="Twentieth Century"/>
              </a:rPr>
              <a:t>FROM Products</a:t>
            </a:r>
            <a:endParaRPr/>
          </a:p>
          <a:p>
            <a:pPr indent="0" lvl="0" marL="0" marR="0" rtl="0" algn="l">
              <a:spcBef>
                <a:spcPts val="0"/>
              </a:spcBef>
              <a:spcAft>
                <a:spcPts val="0"/>
              </a:spcAft>
              <a:buNone/>
            </a:pPr>
            <a:r>
              <a:rPr b="1" lang="en-US" sz="1800">
                <a:solidFill>
                  <a:schemeClr val="dk1"/>
                </a:solidFill>
                <a:latin typeface="Twentieth Century"/>
                <a:ea typeface="Twentieth Century"/>
                <a:cs typeface="Twentieth Century"/>
                <a:sym typeface="Twentieth Century"/>
              </a:rPr>
              <a:t>ORDER BY price DESC</a:t>
            </a:r>
            <a:endParaRPr/>
          </a:p>
          <a:p>
            <a:pPr indent="0" lvl="0" marL="0" marR="0" rtl="0" algn="l">
              <a:spcBef>
                <a:spcPts val="0"/>
              </a:spcBef>
              <a:spcAft>
                <a:spcPts val="0"/>
              </a:spcAft>
              <a:buNone/>
            </a:pPr>
            <a:r>
              <a:rPr b="1" lang="en-US" sz="1800">
                <a:solidFill>
                  <a:schemeClr val="dk1"/>
                </a:solidFill>
                <a:latin typeface="Twentieth Century"/>
                <a:ea typeface="Twentieth Century"/>
                <a:cs typeface="Twentieth Century"/>
                <a:sym typeface="Twentieth Century"/>
              </a:rPr>
              <a:t>LIMIT 5;</a:t>
            </a:r>
            <a:endParaRPr/>
          </a:p>
        </p:txBody>
      </p:sp>
      <p:sp>
        <p:nvSpPr>
          <p:cNvPr id="227" name="Google Shape;227;p10"/>
          <p:cNvSpPr txBox="1"/>
          <p:nvPr/>
        </p:nvSpPr>
        <p:spPr>
          <a:xfrm>
            <a:off x="6225816" y="2933054"/>
            <a:ext cx="5966183"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-- 4. MIN and MAX product price per category</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SELECT cat.category_name, MIN(p.price) AS min_price, MAX(p.price) AS max_price</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FROM Products p</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JOIN Category cat ON p.category_id = cat.category_id</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GROUP BY cat.category_name</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LIMIT 5;</a:t>
            </a:r>
            <a:endParaRPr/>
          </a:p>
        </p:txBody>
      </p:sp>
      <p:pic>
        <p:nvPicPr>
          <p:cNvPr id="228" name="Google Shape;228;p10"/>
          <p:cNvPicPr preferRelativeResize="0"/>
          <p:nvPr/>
        </p:nvPicPr>
        <p:blipFill rotWithShape="1">
          <a:blip r:embed="rId5">
            <a:alphaModFix/>
          </a:blip>
          <a:srcRect b="0" l="0" r="0" t="0"/>
          <a:stretch/>
        </p:blipFill>
        <p:spPr>
          <a:xfrm>
            <a:off x="7510546" y="5044504"/>
            <a:ext cx="4020273" cy="1619333"/>
          </a:xfrm>
          <a:prstGeom prst="rect">
            <a:avLst/>
          </a:prstGeom>
          <a:noFill/>
          <a:ln>
            <a:noFill/>
          </a:ln>
        </p:spPr>
      </p:pic>
      <p:pic>
        <p:nvPicPr>
          <p:cNvPr id="229" name="Google Shape;229;p10"/>
          <p:cNvPicPr preferRelativeResize="0"/>
          <p:nvPr/>
        </p:nvPicPr>
        <p:blipFill rotWithShape="1">
          <a:blip r:embed="rId6">
            <a:alphaModFix/>
          </a:blip>
          <a:srcRect b="0" l="0" r="0" t="0"/>
          <a:stretch/>
        </p:blipFill>
        <p:spPr>
          <a:xfrm>
            <a:off x="8134367" y="1178300"/>
            <a:ext cx="2829320" cy="164805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33" name="Shape 233"/>
        <p:cNvGrpSpPr/>
        <p:nvPr/>
      </p:nvGrpSpPr>
      <p:grpSpPr>
        <a:xfrm>
          <a:off x="0" y="0"/>
          <a:ext cx="0" cy="0"/>
          <a:chOff x="0" y="0"/>
          <a:chExt cx="0" cy="0"/>
        </a:xfrm>
      </p:grpSpPr>
      <p:pic>
        <p:nvPicPr>
          <p:cNvPr id="234" name="Google Shape;234;p11"/>
          <p:cNvPicPr preferRelativeResize="0"/>
          <p:nvPr/>
        </p:nvPicPr>
        <p:blipFill rotWithShape="1">
          <a:blip r:embed="rId3">
            <a:alphaModFix/>
          </a:blip>
          <a:srcRect b="0" l="0" r="0" t="0"/>
          <a:stretch/>
        </p:blipFill>
        <p:spPr>
          <a:xfrm>
            <a:off x="434999" y="1794819"/>
            <a:ext cx="2613001" cy="1950116"/>
          </a:xfrm>
          <a:prstGeom prst="rect">
            <a:avLst/>
          </a:prstGeom>
          <a:noFill/>
          <a:ln>
            <a:noFill/>
          </a:ln>
        </p:spPr>
      </p:pic>
      <p:sp>
        <p:nvSpPr>
          <p:cNvPr id="235" name="Google Shape;235;p11"/>
          <p:cNvSpPr txBox="1"/>
          <p:nvPr/>
        </p:nvSpPr>
        <p:spPr>
          <a:xfrm>
            <a:off x="0" y="150206"/>
            <a:ext cx="60960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-- 5. Find customers from Dhaka or Sylhet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SELECT name, district</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FROM Customers</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WHERE district = 'Dhaka' OR district = 'Sylhet’</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LIMIT 5;</a:t>
            </a:r>
            <a:endParaRPr/>
          </a:p>
        </p:txBody>
      </p:sp>
      <p:pic>
        <p:nvPicPr>
          <p:cNvPr id="236" name="Google Shape;236;p11"/>
          <p:cNvPicPr preferRelativeResize="0"/>
          <p:nvPr/>
        </p:nvPicPr>
        <p:blipFill rotWithShape="1">
          <a:blip r:embed="rId4">
            <a:alphaModFix/>
          </a:blip>
          <a:srcRect b="0" l="0" r="0" t="0"/>
          <a:stretch/>
        </p:blipFill>
        <p:spPr>
          <a:xfrm>
            <a:off x="8976630" y="1520809"/>
            <a:ext cx="2780371" cy="2212057"/>
          </a:xfrm>
          <a:prstGeom prst="rect">
            <a:avLst/>
          </a:prstGeom>
          <a:noFill/>
          <a:ln>
            <a:noFill/>
          </a:ln>
        </p:spPr>
      </p:pic>
      <p:sp>
        <p:nvSpPr>
          <p:cNvPr id="237" name="Google Shape;237;p11"/>
          <p:cNvSpPr txBox="1"/>
          <p:nvPr/>
        </p:nvSpPr>
        <p:spPr>
          <a:xfrm>
            <a:off x="7840737" y="93675"/>
            <a:ext cx="4780344"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-- 6. Find all orders that are not delivered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SELECT order_id, order_status</a:t>
            </a:r>
            <a:endParaRPr b="1"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FROM Orders</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WHERE NOT order_status = 'Delivered’</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LIMIT 5</a:t>
            </a:r>
            <a:r>
              <a:rPr lang="en-US" sz="1800">
                <a:solidFill>
                  <a:schemeClr val="dk1"/>
                </a:solidFill>
                <a:latin typeface="Times New Roman"/>
                <a:ea typeface="Times New Roman"/>
                <a:cs typeface="Times New Roman"/>
                <a:sym typeface="Times New Roman"/>
              </a:rPr>
              <a:t>;</a:t>
            </a:r>
            <a:endParaRPr/>
          </a:p>
        </p:txBody>
      </p:sp>
      <p:sp>
        <p:nvSpPr>
          <p:cNvPr id="238" name="Google Shape;238;p11"/>
          <p:cNvSpPr txBox="1"/>
          <p:nvPr/>
        </p:nvSpPr>
        <p:spPr>
          <a:xfrm>
            <a:off x="3215371" y="2998137"/>
            <a:ext cx="5084567"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-- 7 Query using SUM, AVG, COUNT from product</a:t>
            </a:r>
            <a:endParaRPr/>
          </a:p>
          <a:p>
            <a:pPr indent="0" lvl="0" marL="0" marR="0" rtl="0" algn="l">
              <a:spcBef>
                <a:spcPts val="0"/>
              </a:spcBef>
              <a:spcAft>
                <a:spcPts val="0"/>
              </a:spcAft>
              <a:buNone/>
            </a:pPr>
            <a:r>
              <a:rPr b="1" lang="en-US" sz="1800">
                <a:solidFill>
                  <a:schemeClr val="dk1"/>
                </a:solidFill>
                <a:latin typeface="Twentieth Century"/>
                <a:ea typeface="Twentieth Century"/>
                <a:cs typeface="Twentieth Century"/>
                <a:sym typeface="Twentieth Century"/>
              </a:rPr>
              <a:t>SELECT     </a:t>
            </a:r>
            <a:endParaRPr/>
          </a:p>
          <a:p>
            <a:pPr indent="0" lvl="0" marL="0" marR="0" rtl="0" algn="l">
              <a:spcBef>
                <a:spcPts val="0"/>
              </a:spcBef>
              <a:spcAft>
                <a:spcPts val="0"/>
              </a:spcAft>
              <a:buNone/>
            </a:pPr>
            <a:r>
              <a:rPr b="1" lang="en-US" sz="1800">
                <a:solidFill>
                  <a:schemeClr val="dk1"/>
                </a:solidFill>
                <a:latin typeface="Twentieth Century"/>
                <a:ea typeface="Twentieth Century"/>
                <a:cs typeface="Twentieth Century"/>
                <a:sym typeface="Twentieth Century"/>
              </a:rPr>
              <a:t>	SUM(price) AS Total_Product_Price,    </a:t>
            </a:r>
            <a:endParaRPr/>
          </a:p>
          <a:p>
            <a:pPr indent="0" lvl="0" marL="0" marR="0" rtl="0" algn="l">
              <a:spcBef>
                <a:spcPts val="0"/>
              </a:spcBef>
              <a:spcAft>
                <a:spcPts val="0"/>
              </a:spcAft>
              <a:buNone/>
            </a:pPr>
            <a:r>
              <a:rPr b="1" lang="en-US" sz="1800">
                <a:solidFill>
                  <a:schemeClr val="dk1"/>
                </a:solidFill>
                <a:latin typeface="Twentieth Century"/>
                <a:ea typeface="Twentieth Century"/>
                <a:cs typeface="Twentieth Century"/>
                <a:sym typeface="Twentieth Century"/>
              </a:rPr>
              <a:t>	AVG(price) AS Average_Product_Price,    	COUNT(product_id) AS Total_Products</a:t>
            </a:r>
            <a:endParaRPr b="1" sz="1800">
              <a:solidFill>
                <a:schemeClr val="dk1"/>
              </a:solidFill>
              <a:latin typeface="Twentieth Century"/>
              <a:ea typeface="Twentieth Century"/>
              <a:cs typeface="Twentieth Century"/>
              <a:sym typeface="Twentieth Century"/>
            </a:endParaRPr>
          </a:p>
          <a:p>
            <a:pPr indent="0" lvl="0" marL="0" marR="0" rtl="0" algn="l">
              <a:spcBef>
                <a:spcPts val="0"/>
              </a:spcBef>
              <a:spcAft>
                <a:spcPts val="0"/>
              </a:spcAft>
              <a:buNone/>
            </a:pPr>
            <a:r>
              <a:rPr b="1" lang="en-US" sz="1800">
                <a:solidFill>
                  <a:schemeClr val="dk1"/>
                </a:solidFill>
                <a:latin typeface="Twentieth Century"/>
                <a:ea typeface="Twentieth Century"/>
                <a:cs typeface="Twentieth Century"/>
                <a:sym typeface="Twentieth Century"/>
              </a:rPr>
              <a:t>FROM Products;</a:t>
            </a:r>
            <a:endParaRPr/>
          </a:p>
        </p:txBody>
      </p:sp>
      <p:pic>
        <p:nvPicPr>
          <p:cNvPr id="239" name="Google Shape;239;p11"/>
          <p:cNvPicPr preferRelativeResize="0"/>
          <p:nvPr/>
        </p:nvPicPr>
        <p:blipFill rotWithShape="1">
          <a:blip r:embed="rId5">
            <a:alphaModFix/>
          </a:blip>
          <a:srcRect b="0" l="0" r="0" t="0"/>
          <a:stretch/>
        </p:blipFill>
        <p:spPr>
          <a:xfrm>
            <a:off x="2272718" y="4950599"/>
            <a:ext cx="7162519" cy="13420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9BDEC"/>
            </a:gs>
            <a:gs pos="46000">
              <a:srgbClr val="A764D2"/>
            </a:gs>
            <a:gs pos="100000">
              <a:srgbClr val="65288D"/>
            </a:gs>
          </a:gsLst>
          <a:path path="circle">
            <a:fillToRect b="50%" l="50%" r="50%" t="50%"/>
          </a:path>
          <a:tileRect/>
        </a:gradFill>
      </p:bgPr>
    </p:bg>
    <p:spTree>
      <p:nvGrpSpPr>
        <p:cNvPr id="243" name="Shape 243"/>
        <p:cNvGrpSpPr/>
        <p:nvPr/>
      </p:nvGrpSpPr>
      <p:grpSpPr>
        <a:xfrm>
          <a:off x="0" y="0"/>
          <a:ext cx="0" cy="0"/>
          <a:chOff x="0" y="0"/>
          <a:chExt cx="0" cy="0"/>
        </a:xfrm>
      </p:grpSpPr>
      <p:sp>
        <p:nvSpPr>
          <p:cNvPr id="244" name="Google Shape;244;p12"/>
          <p:cNvSpPr txBox="1"/>
          <p:nvPr/>
        </p:nvSpPr>
        <p:spPr>
          <a:xfrm>
            <a:off x="4725364" y="949123"/>
            <a:ext cx="3203294"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4000" u="sng">
                <a:solidFill>
                  <a:schemeClr val="dk1"/>
                </a:solidFill>
                <a:latin typeface="Times New Roman"/>
                <a:ea typeface="Times New Roman"/>
                <a:cs typeface="Times New Roman"/>
                <a:sym typeface="Times New Roman"/>
              </a:rPr>
              <a:t>Conclusion</a:t>
            </a:r>
            <a:r>
              <a:rPr b="1" lang="en-US" sz="4000">
                <a:solidFill>
                  <a:schemeClr val="dk1"/>
                </a:solidFill>
                <a:latin typeface="Times New Roman"/>
                <a:ea typeface="Times New Roman"/>
                <a:cs typeface="Times New Roman"/>
                <a:sym typeface="Times New Roman"/>
              </a:rPr>
              <a:t> :</a:t>
            </a:r>
            <a:endParaRPr/>
          </a:p>
        </p:txBody>
      </p:sp>
      <p:sp>
        <p:nvSpPr>
          <p:cNvPr id="245" name="Google Shape;245;p12"/>
          <p:cNvSpPr txBox="1"/>
          <p:nvPr/>
        </p:nvSpPr>
        <p:spPr>
          <a:xfrm>
            <a:off x="266216" y="1905506"/>
            <a:ext cx="11783030" cy="30469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Times New Roman"/>
                <a:ea typeface="Times New Roman"/>
                <a:cs typeface="Times New Roman"/>
                <a:sym typeface="Times New Roman"/>
              </a:rPr>
              <a:t>This online shopping database project shows the value of a well-structured system for managing customers, sellers, products, and orders. It ensures smooth operations, data consistency, and scalability for future growth. The system also lays the foundation for enhancements like analytics, recommendations, and automated inventory management.</a:t>
            </a:r>
            <a:endParaRPr/>
          </a:p>
        </p:txBody>
      </p:sp>
    </p:spTree>
  </p:cSld>
  <p:clrMapOvr>
    <a:masterClrMapping/>
  </p:clrMapOvr>
  <mc:AlternateContent>
    <mc:Choice Requires="p14">
      <p:transition spd="med">
        <p14:reveal dir="l"/>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mc:AlternateContent>
    <mc:Choice Requires="p14">
      <p:transition spd="med">
        <p14:flash/>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roplet">
  <a:themeElements>
    <a:clrScheme name="Droplet">
      <a:dk1>
        <a:srgbClr val="000000"/>
      </a:dk1>
      <a:lt1>
        <a:srgbClr val="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2025-10-24T13:04:33Z</dcterms:created>
  <dc:creator>Sabbir Ahmed Shisir</dc:creator>
</cp:coreProperties>
</file>